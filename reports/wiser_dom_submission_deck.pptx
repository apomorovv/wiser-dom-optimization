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db3bc39cf4121" /><Relationship Type="http://schemas.openxmlformats.org/officeDocument/2006/relationships/extended-properties" Target="/docProps/app.xml" Id="Rc1573df838be423e" /><Relationship Type="http://schemas.openxmlformats.org/officeDocument/2006/relationships/officeDocument" Target="/ppt/presentation.xml" Id="Rb3b1a731de64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bee5ce740f4072"/>
  </p:sldMasterIdLst>
  <p:notesMasterIdLst>
    <p:notesMasterId xmlns:r="http://schemas.openxmlformats.org/officeDocument/2006/relationships" r:id="R862f77d1577f40b2"/>
  </p:notesMasterIdLst>
  <p:sldIdLst>
    <p:sldId xmlns:r="http://schemas.openxmlformats.org/officeDocument/2006/relationships" id="256" r:id="R94ac962564d945f0"/>
    <p:sldId xmlns:r="http://schemas.openxmlformats.org/officeDocument/2006/relationships" id="257" r:id="R74d793f422d94fee"/>
    <p:sldId xmlns:r="http://schemas.openxmlformats.org/officeDocument/2006/relationships" id="258" r:id="Ra016b1a483cb463f"/>
    <p:sldId xmlns:r="http://schemas.openxmlformats.org/officeDocument/2006/relationships" id="259" r:id="R333c314454744bfe"/>
    <p:sldId xmlns:r="http://schemas.openxmlformats.org/officeDocument/2006/relationships" id="260" r:id="R3f48054fe8264cf4"/>
    <p:sldId xmlns:r="http://schemas.openxmlformats.org/officeDocument/2006/relationships" id="261" r:id="R77465a4ea1194e72"/>
    <p:sldId xmlns:r="http://schemas.openxmlformats.org/officeDocument/2006/relationships" id="262" r:id="R357774ac56514a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4304fd773d42b8" /><Relationship Type="http://schemas.openxmlformats.org/officeDocument/2006/relationships/slideMaster" Target="/ppt/slideMasters/slideMaster1.xml" Id="R45bee5ce740f4072" /><Relationship Type="http://schemas.openxmlformats.org/officeDocument/2006/relationships/notesMaster" Target="/ppt/notesMasters/notesMaster1.xml" Id="R862f77d1577f40b2" /><Relationship Type="http://schemas.openxmlformats.org/officeDocument/2006/relationships/presProps" Target="/ppt/presProps.xml" Id="R0a80f95c0b53429c" /><Relationship Type="http://schemas.openxmlformats.org/officeDocument/2006/relationships/tableStyles" Target="/ppt/tableStyles.xml" Id="R8fbae88b57184cd7" /><Relationship Type="http://schemas.openxmlformats.org/officeDocument/2006/relationships/slide" Target="/ppt/slides/slide1.xml" Id="R94ac962564d945f0" /><Relationship Type="http://schemas.openxmlformats.org/officeDocument/2006/relationships/slide" Target="/ppt/slides/slide2.xml" Id="R74d793f422d94fee" /><Relationship Type="http://schemas.openxmlformats.org/officeDocument/2006/relationships/slide" Target="/ppt/slides/slide3.xml" Id="Ra016b1a483cb463f" /><Relationship Type="http://schemas.openxmlformats.org/officeDocument/2006/relationships/slide" Target="/ppt/slides/slide4.xml" Id="R333c314454744bfe" /><Relationship Type="http://schemas.openxmlformats.org/officeDocument/2006/relationships/slide" Target="/ppt/slides/slide5.xml" Id="R3f48054fe8264cf4" /><Relationship Type="http://schemas.openxmlformats.org/officeDocument/2006/relationships/slide" Target="/ppt/slides/slide6.xml" Id="R77465a4ea1194e72" /><Relationship Type="http://schemas.openxmlformats.org/officeDocument/2006/relationships/slide" Target="/ppt/slides/slide7.xml" Id="R357774ac5651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b0d3cf16640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0d28a0929485f" /><Relationship Type="http://schemas.openxmlformats.org/officeDocument/2006/relationships/notesMaster" Target="/ppt/notesMasters/notesMaster1.xml" Id="Reb392cd5a5ac4d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d514970c74c1a" /><Relationship Type="http://schemas.openxmlformats.org/officeDocument/2006/relationships/notesMaster" Target="/ppt/notesMasters/notesMaster1.xml" Id="R15d27cb8ca6144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7c357afe8c420e" /><Relationship Type="http://schemas.openxmlformats.org/officeDocument/2006/relationships/notesMaster" Target="/ppt/notesMasters/notesMaster1.xml" Id="R8fb9d18fd82343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0947d36ff4ab7" /><Relationship Type="http://schemas.openxmlformats.org/officeDocument/2006/relationships/notesMaster" Target="/ppt/notesMasters/notesMaster1.xml" Id="R4d19a3fe805940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32c6b272d745d7" /><Relationship Type="http://schemas.openxmlformats.org/officeDocument/2006/relationships/notesMaster" Target="/ppt/notesMasters/notesMaster1.xml" Id="R24e11655671145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d7588826af4c9e" /><Relationship Type="http://schemas.openxmlformats.org/officeDocument/2006/relationships/notesMaster" Target="/ppt/notesMasters/notesMaster1.xml" Id="R55cb09a4110742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f03301d7574a2c" /><Relationship Type="http://schemas.openxmlformats.org/officeDocument/2006/relationships/notesMaster" Target="/ppt/notesMasters/notesMaster1.xml" Id="R763c3cc47ea4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Nestle WISER challenge brief</a:t>
            </a:r>
          </a:p>
          <a:p xmlns:a="http://schemas.openxmlformats.org/drawingml/2006/main">
            <a:r>
              <a:t>- Repository 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Output_order_level_data(3).csv</a:t>
            </a:r>
          </a:p>
          <a:p xmlns:a="http://schemas.openxmlformats.org/drawingml/2006/main">
            <a:r>
              <a:t>- output_order_sku_level_data(3).csv</a:t>
            </a:r>
          </a:p>
          <a:p xmlns:a="http://schemas.openxmlformats.org/drawingml/2006/main">
            <a:r>
              <a:t>- notebook output audit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DOM Equations.docx</a:t>
            </a:r>
          </a:p>
          <a:p xmlns:a="http://schemas.openxmlformats.org/drawingml/2006/main">
            <a:r>
              <a:t>- src/domopt/classical.py</a:t>
            </a:r>
          </a:p>
          <a:p xmlns:a="http://schemas.openxmlformats.org/drawingml/2006/main">
            <a:r>
              <a:t>- src/domopt/penalties.py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src/domopt/hybrid.py</a:t>
            </a:r>
          </a:p>
          <a:p xmlns:a="http://schemas.openxmlformats.org/drawingml/2006/main">
            <a:r>
              <a:t>- src/domopt/classical.py</a:t>
            </a:r>
          </a:p>
          <a:p xmlns:a="http://schemas.openxmlformats.org/drawingml/2006/main">
            <a:r>
              <a:t>- src/domopt/validation.py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notebooks/nestle_challenge_experiments.ipynb (smoke execution)</a:t>
            </a:r>
          </a:p>
          <a:p xmlns:a="http://schemas.openxmlformats.org/drawingml/2006/main">
            <a:r>
              <a:t>- runs/challenge-study/aggregate_results.csv (not published)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notebooks/nestle_challenge_experiments.ipynb</a:t>
            </a:r>
          </a:p>
          <a:p xmlns:a="http://schemas.openxmlformats.org/drawingml/2006/main">
            <a:r>
              <a:t>- src/domopt/experiments.py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Nestle WISER challenge brief</a:t>
            </a:r>
          </a:p>
          <a:p xmlns:a="http://schemas.openxmlformats.org/drawingml/2006/main">
            <a:r>
              <a:t>- docs/privacy.md</a:t>
            </a:r>
          </a:p>
          <a:p xmlns:a="http://schemas.openxmlformats.org/drawingml/2006/main">
            <a:r>
              <a:t>- docs/experiment_protocol.md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2ec7d087b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bbc9ac5aa438a" /><Relationship Type="http://schemas.openxmlformats.org/officeDocument/2006/relationships/slideLayout" Target="/ppt/slideLayouts/slideLayout1.xml" Id="R19e14997d9ab43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14997d9ab43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869df4fd4498" /><Relationship Type="http://schemas.openxmlformats.org/officeDocument/2006/relationships/notesSlide" Target="/ppt/notesSlides/notesSlide1.xml" Id="R6b6b36c3dd1c4b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2028707774b81" /><Relationship Type="http://schemas.openxmlformats.org/officeDocument/2006/relationships/notesSlide" Target="/ppt/notesSlides/notesSlide2.xml" Id="R433d407009a345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978cf3c0642ea" /><Relationship Type="http://schemas.openxmlformats.org/officeDocument/2006/relationships/notesSlide" Target="/ppt/notesSlides/notesSlide3.xml" Id="Re28b9c397e1a4f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1a3c246c04667" /><Relationship Type="http://schemas.openxmlformats.org/officeDocument/2006/relationships/notesSlide" Target="/ppt/notesSlides/notesSlide4.xml" Id="R6cfd95c412f747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c14849d7b460e" /><Relationship Type="http://schemas.openxmlformats.org/officeDocument/2006/relationships/notesSlide" Target="/ppt/notesSlides/notesSlide5.xml" Id="R1c4cb32b65d44b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5925a68544097" /><Relationship Type="http://schemas.openxmlformats.org/officeDocument/2006/relationships/notesSlide" Target="/ppt/notesSlides/notesSlide6.xml" Id="R915501ce4e3e4f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aa5a7f0b8435c" /><Relationship Type="http://schemas.openxmlformats.org/officeDocument/2006/relationships/notesSlide" Target="/ppt/notesSlides/notesSlide7.xml" Id="R69b9bce73a4641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2F46716A-0DDF-4C3C-8AE0-419AB3EA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Feasibility-preserving
hybrid optimization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F1A5AD0-E08D-4655-8E24-01E8A6F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Readable POC data • exact recourse • reproducible experiments • planner copilot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BC52951-81DC-44D5-8391-D6F291F4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WISER • Distributed Order Management</a:t>
            </a:r>
          </a:p>
        </p:txBody>
      </p:sp>
    </p:spTree>
    <p:extLst>
      <p:ext uri="{BB962C8B-B14F-4D97-AF65-F5344CB8AC3E}">
        <p14:creationId xmlns:p14="http://schemas.microsoft.com/office/powerpoint/2010/main" val="3877007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AC644F7-11EA-44B7-9DC7-8B2F523B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5AE4A11-0AC1-4E57-ABA7-11535EB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875046F-D242-44E3-A406-1ADF80C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0BFC13A-1066-4DE6-A8C2-3D81D66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383F9DB-F861-457D-BF11-F9D39257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supplied POC is now fully readable and auditable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C46E4E4-1276-4EB6-B378-E5FED1E7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orders in supplied outputs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38BCEA4-276F-4742-8C38-41DAD53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selected case fill in supplied output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181F66B-6FDA-4E18-A139-B0D8F5F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order–SKU rows reconciled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842CEC7-DEEA-40FA-9E76-7A37713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1,109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F0E7A57-8271-4A54-8C15-C24A008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25,193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806F306-83DE-4B10-95F2-83F515ED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94.50%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7F2C054-F524-44C4-96E4-828F17A0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scope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one eligible DC/date per load, then allocate integer cases by SKU under shared resources.</a:t>
            </a:r>
          </a:p>
        </p:txBody>
      </p:sp>
    </p:spTree>
    <p:extLst>
      <p:ext uri="{BB962C8B-B14F-4D97-AF65-F5344CB8AC3E}">
        <p14:creationId xmlns:p14="http://schemas.microsoft.com/office/powerpoint/2010/main" val="2956968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6BC1E22-5A0F-4956-9753-4F68599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BF19D46-06AE-432D-90DD-6BB17331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exact model preserves every business decision boundary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AB2FFF1-3731-46B6-BADD-7409A7E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outcome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DC and PGI date—or explicit unassignment. Complete loads stay together.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B776D7B-C799-444A-9408-8CBFBCB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quantities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Integer SKU fill plus unmet demand equals requested cases; pallet and loose picks reconcile.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29263B0-4509-4420-94CC-2BB556A9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Protected resources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Five-day protected ATP, forecast presence, dock headroom, dates, and enabled capacity scenarios.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384A285-75DE-4413-A942-BD6F435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 economics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Fulfilled value minus thresholded penalty and once-per-load shipping; diversion needs +5 pp and +100 cases.</a:t>
            </a:r>
          </a:p>
        </p:txBody>
      </p:sp>
    </p:spTree>
    <p:extLst>
      <p:ext uri="{BB962C8B-B14F-4D97-AF65-F5344CB8AC3E}">
        <p14:creationId xmlns:p14="http://schemas.microsoft.com/office/powerpoint/2010/main" val="38130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8678EA3-2D0C-4556-8077-9B374077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093CA96-00EF-494F-A0BC-7D4B8C7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Hybrid search proposes; exact recourse decides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CD3EDD8-CB79-4458-8E68-8D2E4B43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DBF4560-4BB1-4C41-B1C7-918C6C74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8D933AF-4261-4020-A442-51CFAA78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EC8204-AF57-4E48-BC9E-47FB05F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Feasible start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AC5DECE-8E2C-423E-BA4E-A23610FC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proposal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95804DB-536F-47DF-ACE8-F4D618A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Certified move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E867184-3682-4E0A-A432-B5733499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QUBO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Search conflict-coupled assignments under an explicit variable cap.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54BA609-FE41-4461-98CD-D4B9F213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Default or greedy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from a solution that already passes every hard rule.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C937D8-F161-4711-828E-7324F78B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MILP + validator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Reoptimize SKU quantities; accept only a feasible strict improvement.</a:t>
            </a:r>
          </a:p>
        </p:txBody>
      </p:sp>
    </p:spTree>
    <p:extLst>
      <p:ext uri="{BB962C8B-B14F-4D97-AF65-F5344CB8AC3E}">
        <p14:creationId xmlns:p14="http://schemas.microsoft.com/office/powerpoint/2010/main" val="16282515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02ACA5F-5C33-4E6B-982A-48AB226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3383187-9F93-45FA-A1DE-D6488FA0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F53E0B3-7C39-42D4-A819-C948F44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41967EE-B83D-445A-8242-5138B383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582B422-6549-4DB4-A2E3-966879F4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Smoke evidence validates safety—not quantum advantage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E77090A-C6BE-4793-ABCC-873B17EE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aggregate smoke rows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B9470DF-74F1-4F7C-9A0E-B47885C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hybrid regressions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45891C7-6AA0-48F0-9E29-3C5DE2B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solutions feasible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97AA7C0-6C87-44B8-AF41-9295D8D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EC0D6ED-6290-4C2A-A1CD-A5CF3DC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EBAAA61-7A18-4295-8F85-10F18F3E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8B90057-C64F-4FBD-8EF1-096AAE7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gate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requested study executed on supplied-data subsets with one evaluator and validator. Full grids remain notebook-controlled.</a:t>
            </a:r>
          </a:p>
        </p:txBody>
      </p:sp>
    </p:spTree>
    <p:extLst>
      <p:ext uri="{BB962C8B-B14F-4D97-AF65-F5344CB8AC3E}">
        <p14:creationId xmlns:p14="http://schemas.microsoft.com/office/powerpoint/2010/main" val="15392105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54EE846-7796-4D66-B793-6E732E63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ADDBC5-4960-440D-99CC-599F8F1C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notebook tests value, scale, robustness, and architecture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10C3928-32CF-4943-A183-2BDB273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Common protocol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Identical objective, validation, and aggregate reporting across all comparisons.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050" b="1"/>
                        <a:t>Study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Primary question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Factor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Methods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/>
                        <a:t>Scope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Size scaling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Does runtime grow safely?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8 / 20 / 50 orders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Greedy / exact /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Real POC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Penalty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Do economics change routes?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0.5× / 1× / 2×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Greedy /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Real POC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Candidates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Does breadth repay cost?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1 / 2 / 4 /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Greedy /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Real POC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Inventory shock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Are decisions resilient?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0 / 10 / 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Default / greedy /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Real POC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Seed + noise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Is local search stable?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4 seeds × 3 noise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Simulator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Pareto ablation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Does pruning help?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Off / 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Real POC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Batch ablation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Do conflicts help?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Random / conflict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Real POC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050"/>
                        <a:t>Coordination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Can hybrid beat greedy?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Fixed seed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Greedy / exact / 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Synthetic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476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03004A8-CA2E-482A-9B08-37251EA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57A962D-520B-4406-9268-8AFC894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the hybrid architecture—not a quantum-advantage claim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B1A5767-D893-46BC-80CA-4311CA04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Operational recommendation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FBACA87-40AE-4E48-8661-70D2C1F9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the full notebook grid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668C853-1C33-450B-9B1E-9793013F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02FC489-5D36-49AC-9721-74972065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exact MILP where tractable. Use bounded hybrid neighborhoods to search coordinated alternatives at larger scale.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remote QPU execution disabled until privacy approval and a matched hardware evaluation protocol exist.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4CC5B58-6F10-4411-9657-5A1E0B8D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aggregate evidence in the copilot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2C01F5F-B862-4848-B10B-C9FF3582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9DA1F6B-3C93-437E-961D-6AFE4C1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throughput-limit scenarios with planners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9ECD54E-736D-43BB-9D54-EF02D9A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5B84D74F-29DE-4E66-81C0-2A3673AB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any remote QPU payload explicitly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4587334-E7EF-495E-9901-17623D2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4FF43530-B8F9-4D7E-99EB-441B0ED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501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Claim advantage only with matched QPU evidence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39FAA40B-8A76-47FA-9D51-EEB00ED2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264626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2026-08-05T08:49:43.4270000Z</dcterms:created>
  <dcterms:modified xsi:type="dcterms:W3CDTF">2026-08-05T08:49:43.4280000Z</dcterms:modified>
</coreProperties>
</file>