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84e1f39482401a" /><Relationship Type="http://schemas.openxmlformats.org/officeDocument/2006/relationships/extended-properties" Target="/docProps/app.xml" Id="R7875e9c3ca9d47a4" /><Relationship Type="http://schemas.openxmlformats.org/officeDocument/2006/relationships/officeDocument" Target="/ppt/presentation.xml" Id="R330c18c4806547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62caa8b69f478b"/>
  </p:sldMasterIdLst>
  <p:notesMasterIdLst>
    <p:notesMasterId xmlns:r="http://schemas.openxmlformats.org/officeDocument/2006/relationships" r:id="Ra79269af99c34462"/>
  </p:notesMasterIdLst>
  <p:sldIdLst>
    <p:sldId xmlns:r="http://schemas.openxmlformats.org/officeDocument/2006/relationships" id="256" r:id="Rea6b95d51d054709"/>
    <p:sldId xmlns:r="http://schemas.openxmlformats.org/officeDocument/2006/relationships" id="257" r:id="Ra1adf68a9c8f4681"/>
    <p:sldId xmlns:r="http://schemas.openxmlformats.org/officeDocument/2006/relationships" id="258" r:id="R35e3b3f781c647a4"/>
    <p:sldId xmlns:r="http://schemas.openxmlformats.org/officeDocument/2006/relationships" id="259" r:id="Rc8b6ff584d6248dd"/>
    <p:sldId xmlns:r="http://schemas.openxmlformats.org/officeDocument/2006/relationships" id="260" r:id="R9dd6d828c40e46f4"/>
    <p:sldId xmlns:r="http://schemas.openxmlformats.org/officeDocument/2006/relationships" id="261" r:id="R2e4e3fc22a00476e"/>
    <p:sldId xmlns:r="http://schemas.openxmlformats.org/officeDocument/2006/relationships" id="262" r:id="R27873905a88b48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59aa1d93ab44c3" /><Relationship Type="http://schemas.openxmlformats.org/officeDocument/2006/relationships/slideMaster" Target="/ppt/slideMasters/slideMaster1.xml" Id="R5e62caa8b69f478b" /><Relationship Type="http://schemas.openxmlformats.org/officeDocument/2006/relationships/notesMaster" Target="/ppt/notesMasters/notesMaster1.xml" Id="Ra79269af99c34462" /><Relationship Type="http://schemas.openxmlformats.org/officeDocument/2006/relationships/presProps" Target="/ppt/presProps.xml" Id="R28c4a63554ad429f" /><Relationship Type="http://schemas.openxmlformats.org/officeDocument/2006/relationships/tableStyles" Target="/ppt/tableStyles.xml" Id="R8d9f27a6f5124bbb" /><Relationship Type="http://schemas.openxmlformats.org/officeDocument/2006/relationships/slide" Target="/ppt/slides/slide1.xml" Id="Rea6b95d51d054709" /><Relationship Type="http://schemas.openxmlformats.org/officeDocument/2006/relationships/slide" Target="/ppt/slides/slide2.xml" Id="Ra1adf68a9c8f4681" /><Relationship Type="http://schemas.openxmlformats.org/officeDocument/2006/relationships/slide" Target="/ppt/slides/slide3.xml" Id="R35e3b3f781c647a4" /><Relationship Type="http://schemas.openxmlformats.org/officeDocument/2006/relationships/slide" Target="/ppt/slides/slide4.xml" Id="Rc8b6ff584d6248dd" /><Relationship Type="http://schemas.openxmlformats.org/officeDocument/2006/relationships/slide" Target="/ppt/slides/slide5.xml" Id="R9dd6d828c40e46f4" /><Relationship Type="http://schemas.openxmlformats.org/officeDocument/2006/relationships/slide" Target="/ppt/slides/slide6.xml" Id="R2e4e3fc22a00476e" /><Relationship Type="http://schemas.openxmlformats.org/officeDocument/2006/relationships/slide" Target="/ppt/slides/slide7.xml" Id="R27873905a88b48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f26572f2264e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e1c6d771c24a65" /><Relationship Type="http://schemas.openxmlformats.org/officeDocument/2006/relationships/notesMaster" Target="/ppt/notesMasters/notesMaster1.xml" Id="Rbbce8a4d1c6f4b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ab4165fefc4dfb" /><Relationship Type="http://schemas.openxmlformats.org/officeDocument/2006/relationships/notesMaster" Target="/ppt/notesMasters/notesMaster1.xml" Id="Ra940f8d3199946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a76f5fed7248bf" /><Relationship Type="http://schemas.openxmlformats.org/officeDocument/2006/relationships/notesMaster" Target="/ppt/notesMasters/notesMaster1.xml" Id="R288b260673c444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02343cf7ca4829" /><Relationship Type="http://schemas.openxmlformats.org/officeDocument/2006/relationships/notesMaster" Target="/ppt/notesMasters/notesMaster1.xml" Id="Ra9aae4726e3540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b21112e10f46e7" /><Relationship Type="http://schemas.openxmlformats.org/officeDocument/2006/relationships/notesMaster" Target="/ppt/notesMasters/notesMaster1.xml" Id="Re5abb3a8a6564b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a5b7c3fb024da6" /><Relationship Type="http://schemas.openxmlformats.org/officeDocument/2006/relationships/notesMaster" Target="/ppt/notesMasters/notesMaster1.xml" Id="Rccdcd5b2ba4143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4a9e1b368a4149" /><Relationship Type="http://schemas.openxmlformats.org/officeDocument/2006/relationships/notesMaster" Target="/ppt/notesMasters/notesMaster1.xml" Id="Re8dc22b360064c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operating decision: allocate finite inventory to order groups while preserving hard constraints.</a:t>
            </a:r>
          </a:p>
          <a:p xmlns:a="http://schemas.openxmlformats.org/drawingml/2006/main">
            <a:r>
              <a:t>The hybrid contribution is a reliable classical pipeline with an optional quantum neighborhood sampler—not a quantum-advantage claim.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results/final/aggregate_results.csv</a:t>
            </a:r>
          </a:p>
          <a:p xmlns:a="http://schemas.openxmlformats.org/drawingml/2006/main">
            <a:r>
              <a:t>results/final/ibm/ibm_hardware_stress.csv</a:t>
            </a:r>
          </a:p>
          <a:p xmlns:a="http://schemas.openxmlformats.org/drawingml/2006/main">
            <a:r>
              <a:t>reports/final_report.md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ATP means inventory that can still be promised to customers after existing commitments.</a:t>
            </a:r>
          </a:p>
          <a:p xmlns:a="http://schemas.openxmlformats.org/drawingml/2006/main">
            <a:r>
              <a:t>Objective capture in later slides is the achieved objective divided by total requested merchandise value; it is not an optimality gap.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docs/mathematical_formulation.md</a:t>
            </a:r>
          </a:p>
          <a:p xmlns:a="http://schemas.openxmlformats.org/drawingml/2006/main">
            <a:r>
              <a:t>docs/data_guide.md</a:t>
            </a:r>
          </a:p>
          <a:p xmlns:a="http://schemas.openxmlformats.org/drawingml/2006/main">
            <a:r>
              <a:t>https://doi.org/10.1007/s10479-005-6235-7</a:t>
            </a:r>
          </a:p>
          <a:p xmlns:a="http://schemas.openxmlformats.org/drawingml/2006/main">
            <a:r>
              <a:t>https://doi.org/10.1007/s10845-005-0003-z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Feasibility is never delegated to noisy hardware: samples propose moves, while deterministic decoding, recourse, and validation protect the operational solution.</a:t>
            </a:r>
          </a:p>
          <a:p xmlns:a="http://schemas.openxmlformats.org/drawingml/2006/main">
            <a:r>
              <a:t>The strengthened implementation uses a scalable linear W-state circuit, a path-topology XY mixer, parameter reuse, and richer sampling-quality metrics.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src/domopt/classical.py</a:t>
            </a:r>
          </a:p>
          <a:p xmlns:a="http://schemas.openxmlformats.org/drawingml/2006/main">
            <a:r>
              <a:t>src/domopt/quantum.py</a:t>
            </a:r>
          </a:p>
          <a:p xmlns:a="http://schemas.openxmlformats.org/drawingml/2006/main">
            <a:r>
              <a:t>src/domopt/hybrid.py</a:t>
            </a:r>
          </a:p>
          <a:p xmlns:a="http://schemas.openxmlformats.org/drawingml/2006/main">
            <a:r>
              <a:t>src/domopt/hardware.py</a:t>
            </a:r>
          </a:p>
          <a:p xmlns:a="http://schemas.openxmlformats.org/drawingml/2006/main">
            <a:r>
              <a:t>https://doi.org/10.3390/a12020034</a:t>
            </a:r>
          </a:p>
          <a:p xmlns:a="http://schemas.openxmlformats.org/drawingml/2006/main">
            <a:r>
              <a:t>https://doi.org/10.1103/PhysRevA.101.012320</a:t>
            </a:r>
          </a:p>
          <a:p xmlns:a="http://schemas.openxmlformats.org/drawingml/2006/main">
            <a:r>
              <a:t>https://doi.org/10.22331/q-2021-06-17-479</a:t>
            </a:r>
          </a:p>
          <a:p xmlns:a="http://schemas.openxmlformats.org/drawingml/2006/main">
            <a:r>
              <a:t>https://doi.org/10.22331/q-2022-08-22-781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Polishing gains about 3.51 percentage points of objective capture over the historical default and matches the complete MILP on the common 20-group subset.</a:t>
            </a:r>
          </a:p>
          <a:p xmlns:a="http://schemas.openxmlformats.org/drawingml/2006/main">
            <a:r>
              <a:t>Exact LNS and simulated annealing do not add value on this easy real subset, but coordinated search adds 197.2 objective units on the constructed trap.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results/final/tables/solver_comparison.csv</a:t>
            </a:r>
          </a:p>
          <a:p xmlns:a="http://schemas.openxmlformats.org/drawingml/2006/main">
            <a:r>
              <a:t>results/final/tables/synthetic_coordination_control.csv</a:t>
            </a:r>
          </a:p>
          <a:p xmlns:a="http://schemas.openxmlformats.org/drawingml/2006/main">
            <a:r>
              <a:t>results/final/figures/submission_solver_summary.png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code now exposes Gurobi as an explicit optional backend and checks result parity when both solvers are available.</a:t>
            </a:r>
          </a:p>
          <a:p xmlns:a="http://schemas.openxmlformats.org/drawingml/2006/main">
            <a:r>
              <a:t>The default remains SciPy/HiGHS because it is license-free and distributed on Windows, macOS, and Linux through the Python stack.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results/final/tables/size_scaling.csv</a:t>
            </a:r>
          </a:p>
          <a:p xmlns:a="http://schemas.openxmlformats.org/drawingml/2006/main">
            <a:r>
              <a:t>notebooks/nestle_challenge_experiments.ipynb</a:t>
            </a:r>
          </a:p>
          <a:p xmlns:a="http://schemas.openxmlformats.org/drawingml/2006/main">
            <a:r>
              <a:t>https://highs.dev/</a:t>
            </a:r>
          </a:p>
          <a:p xmlns:a="http://schemas.openxmlformats.org/drawingml/2006/main">
            <a:r>
              <a:t>https://docs.gurobi.com/current/#refman/index.html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Marrakesh has 156 qubits; the reported experiment used 16 logical qubits, 512 shots, 18 QPU jobs, and three repetitions per configuration.</a:t>
            </a:r>
          </a:p>
          <a:p xmlns:a="http://schemas.openxmlformats.org/drawingml/2006/main">
            <a:r>
              <a:t>At depth one the raw one-hot rate is materially higher. At depth two the circuit is much deeper and noisier, despite improved ideal simulation.</a:t>
            </a:r>
          </a:p>
          <a:p xmlns:a="http://schemas.openxmlformats.org/drawingml/2006/main">
            <a:r>
              <a:t>Every final allocation is feasible because deterministic recourse and validation remain outside the quantum circuit.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results/final/ibm/ibm_hardware_stress.csv</a:t>
            </a:r>
          </a:p>
          <a:p xmlns:a="http://schemas.openxmlformats.org/drawingml/2006/main">
            <a:r>
              <a:t>results/final/ibm/ibm_hardware_stress.manifest.json</a:t>
            </a:r>
          </a:p>
          <a:p xmlns:a="http://schemas.openxmlformats.org/drawingml/2006/main">
            <a:r>
              <a:t>results/final/figures/submission_ibm_depth_summary.png</a:t>
            </a:r>
          </a:p>
          <a:p xmlns:a="http://schemas.openxmlformats.org/drawingml/2006/main">
            <a:r>
              <a:t>https://quantum.cloud.ibm.com/docs/en/guides/qaoa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deployment recommendation: use the classical hybrid immediately, reserve expensive exact or quantum work for detected hard neighborhoods, and keep the quantum track falsifiable.</a:t>
            </a:r>
          </a:p>
          <a:p xmlns:a="http://schemas.openxmlformats.org/drawingml/2006/main">
            <a:r>
              <a:t>The next credible hardware milestone is not more qubits alone—it is higher feasible-sample quality at comparable circuit depth and a measurable gain before deterministic recourse.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reports/final_report.md</a:t>
            </a:r>
          </a:p>
          <a:p xmlns:a="http://schemas.openxmlformats.org/drawingml/2006/main">
            <a:r>
              <a:t>reports/business_technical_summary.md</a:t>
            </a:r>
          </a:p>
          <a:p xmlns:a="http://schemas.openxmlformats.org/drawingml/2006/main">
            <a:r>
              <a:t>docs/challenge_checklist.md</a:t>
            </a:r>
          </a:p>
          <a:p xmlns:a="http://schemas.openxmlformats.org/drawingml/2006/main">
            <a:r>
              <a:t>https://doi.org/10.1007/3-540-49481-2_30</a:t>
            </a:r>
          </a:p>
          <a:p xmlns:a="http://schemas.openxmlformats.org/drawingml/2006/main">
            <a:r>
              <a:t>https://doi.org/10.1007/s10107-003-0395-5</a:t>
            </a:r>
          </a:p>
          <a:p xmlns:a="http://schemas.openxmlformats.org/drawingml/2006/main">
            <a:r>
              <a:t>https://doi.org/10.1007/s10107-004-0518-7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cf552611d40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f6d69b7909410b" /><Relationship Type="http://schemas.openxmlformats.org/officeDocument/2006/relationships/slideLayout" Target="/ppt/slideLayouts/slideLayout1.xml" Id="R352ad8e95fff4a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2ad8e95fff4a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016c6af964af4" /><Relationship Type="http://schemas.openxmlformats.org/officeDocument/2006/relationships/notesSlide" Target="/ppt/notesSlides/notesSlide1.xml" Id="Rc1c984bddff14c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cd90cda274fd4" /><Relationship Type="http://schemas.openxmlformats.org/officeDocument/2006/relationships/notesSlide" Target="/ppt/notesSlides/notesSlide2.xml" Id="R75a17cfd36294a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28bd27ac14ff1" /><Relationship Type="http://schemas.openxmlformats.org/officeDocument/2006/relationships/notesSlide" Target="/ppt/notesSlides/notesSlide3.xml" Id="R9b5b44509c8344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8d05fa87346f4" /><Relationship Type="http://schemas.openxmlformats.org/officeDocument/2006/relationships/image" Target="/ppt/media/image.png" Id="R4a3df459743a41cd" /><Relationship Type="http://schemas.openxmlformats.org/officeDocument/2006/relationships/notesSlide" Target="/ppt/notesSlides/notesSlide4.xml" Id="Re7ad35c8e14140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e4b2564814c50" /><Relationship Type="http://schemas.openxmlformats.org/officeDocument/2006/relationships/image" Target="/ppt/media/image2.png" Id="Rbac442c718124714" /><Relationship Type="http://schemas.openxmlformats.org/officeDocument/2006/relationships/notesSlide" Target="/ppt/notesSlides/notesSlide5.xml" Id="Re00fef8f261e49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f100383bf494f" /><Relationship Type="http://schemas.openxmlformats.org/officeDocument/2006/relationships/image" Target="/ppt/media/image3.png" Id="R55f2de284df2437a" /><Relationship Type="http://schemas.openxmlformats.org/officeDocument/2006/relationships/notesSlide" Target="/ppt/notesSlides/notesSlide6.xml" Id="R25aff6a37d384b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b0d87f7df40e0" /><Relationship Type="http://schemas.openxmlformats.org/officeDocument/2006/relationships/notesSlide" Target="/ppt/notesSlides/notesSlide7.xml" Id="Rc296517082b843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D69A6E-E029-4190-9430-85048E99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69CFD-28C5-440D-B15C-317859A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21871-ACC5-443B-ACA6-99028F2B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E4271-4048-41B9-A761-8A29C17D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83674-835E-415F-957C-910E61D5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9FE5D-CC06-4EFA-BB6C-58479C9D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7D5C2-38CC-4D12-B75B-C0A27B4A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5B26E-78B2-470E-B1FE-43CFB4B6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E7051-4DF2-45E0-AF45-762E25C0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31FFB-2A55-43C4-A46F-21CA2FC9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08817-6B50-46C0-8742-13D5076C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E4CB4-6331-44A0-9CBB-268E5FE4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2E82B-F0D8-4DD3-BE4B-CC7BFF2F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36522-4AD0-43A5-9EAC-A8BC0093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4D9ED-6236-43E3-97AC-73B70538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CF0A5-2965-4BCC-AAB4-1A6F7A11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9A555-1C20-49BF-83CB-73234568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AD98C-B054-4CB6-85A4-7E30D9B4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9D0EF-1488-48B9-80B1-DD93008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2FED0-BECB-48C6-807D-FA655DCB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FAFF7-EDFE-4018-9B48-49FECBF3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3E0F9-D020-45D5-8E59-C234876D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524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9525">
            <a:solidFill>
              <a:srgbClr val="E7EE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54607-D59B-413F-8AB9-1FCA3732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986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WISER QUANTUM CHALLENGE • FINAL SUBMISSION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1D724-CE61-4EBB-B898-B70D1176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676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Hybrid order</a:t>
            </a:r>
          </a:p>
          <a:p xmlns:a="http://schemas.openxmlformats.org/drawingml/2006/main">
            <a:pPr algn="l">
              <a:buNone/>
              <a:defRPr sz="495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fulfillment optimization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6BFF4-41A2-4652-95E9-83375759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2902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Fast feasible allocation with exact local improvement and honest quantum evidence.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553F5-5EB7-4EDE-8A45-B4CB2AA5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149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HiGHS baseline  •  MILP polish  •  constraint-aware QAOA neighborhoods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832452-2F4F-4EA4-B09F-D7D1B2E3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1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Andrei Pomorov | Aug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C59AE-B903-4ED6-8BB6-B6BF630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solidFill>
              <a:srgbClr val="0B17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D32A1-4087-49E2-A20C-E90A44E1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Submission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5D978D-D363-43F1-85F5-D39E6B8C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19200"/>
            <a:ext cx="33813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42A46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C7CFFD-085C-42D3-BDA4-DA29E9D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038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3B5C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3B5C8"/>
                </a:solidFill>
                <a:latin typeface="Arial"/>
                <a:ea typeface="Arial"/>
                <a:cs typeface="Arial"/>
              </a:rPr>
              <a:t>247 / 247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0FE235-C305-4F38-9AC0-B59C64D7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303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C8D4E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8D4E3"/>
                </a:solidFill>
                <a:latin typeface="Arial"/>
                <a:ea typeface="Arial"/>
                <a:cs typeface="Arial"/>
              </a:rPr>
              <a:t>recorded result rows feasible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724FDD-0FBB-43E7-BDDA-62F879C7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3813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42A46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412B0B-06A5-4C6F-A786-959097EB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3038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+197.2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189F89-2E2B-438A-83D0-9A7B458B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303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C8D4E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8D4E3"/>
                </a:solidFill>
                <a:latin typeface="Arial"/>
                <a:ea typeface="Arial"/>
                <a:cs typeface="Arial"/>
              </a:rPr>
              <a:t>objective gain on the coordinated-move trap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747E4B-1F7A-43A8-BB39-2DC9FF8D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33813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42A46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BBD72A-37A4-4687-B805-EA6002EA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91025"/>
            <a:ext cx="3038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156 qubits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FD2D9C-1B1F-4ACD-B942-B3FCF93B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303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C8D4E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8D4E3"/>
                </a:solidFill>
                <a:latin typeface="Arial"/>
                <a:ea typeface="Arial"/>
                <a:cs typeface="Arial"/>
              </a:rPr>
              <a:t>IBM hardware study; 18 QPU jobs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AB2039-03BE-45C8-B1FD-00D10ACD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600075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C8D4E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8D4E3"/>
                </a:solidFill>
                <a:latin typeface="Arial"/>
                <a:ea typeface="Arial"/>
                <a:cs typeface="Arial"/>
              </a:rPr>
              <a:t>16 canonical manifests verified</a:t>
            </a:r>
          </a:p>
        </p:txBody>
      </p:sp>
    </p:spTree>
    <p:extLst>
      <p:ext uri="{BB962C8B-B14F-4D97-AF65-F5344CB8AC3E}">
        <p14:creationId xmlns:p14="http://schemas.microsoft.com/office/powerpoint/2010/main" val="606048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246C8-1652-40FC-8135-F3508078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A15BE-7434-41CC-8FE7-7287D16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903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The decision is a constrained allocation—not a single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9F868-96E3-440B-BA20-7D508891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5951D-4DC4-44E2-A274-CD56C2F1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EBC8D-6F55-4E29-9295-B7E580A3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9525">
            <a:solidFill>
              <a:srgbClr val="E7EE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4C82E-E683-4116-9461-99D5FC25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D18C8-0342-4D26-82C8-246CB5BE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476500" cy="2762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8DDA9-4055-4EF4-8944-38B1EA32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6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Orders, products, plants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A8599-C959-459B-B5FD-53CED00E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2019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38100" bIns="0" anchor="t">
            <a:normAutofit fontScale="99352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350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demand and promised dates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350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available-to-promise (ATP) inventory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350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eligible fulfillment options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350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transport, transfer, and lateness costs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A0154-E9C3-4108-8478-123696A8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954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5F7"/>
          </a:solidFill>
          <a:ln xmlns:a="http://schemas.openxmlformats.org/drawingml/2006/main" w="9525">
            <a:solidFill>
              <a:srgbClr val="DFF5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9BBB6-48EF-4812-A4F3-18D436BE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954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F8C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6412B-FA66-40CB-9D73-1C38EA8B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14550"/>
            <a:ext cx="36004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9BD28-E1DB-4AB1-BA76-43FE9EF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4315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Choose at most one option per 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8A314-626D-4BB7-924A-70405C2B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xᵢⱼ ∈ {0,1}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72AE7-38C7-4ADB-B116-3001BD04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24275"/>
            <a:ext cx="3019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1 when option j is assigned to order group i; 0 otherwise.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C3DB8-4FDD-4999-8E5B-C7A620B5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Unfilled demand is allowed, but penalized.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1E6A1-59FD-47FF-8D32-48557472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9545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FC795-CD2A-440E-B554-253C7D5B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954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557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5570D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56F4E-15A8-41AD-AA32-C946BAB3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14550"/>
            <a:ext cx="43243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6D109-533A-4D4D-85A2-C1EF11D4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Maximize service value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F516B-2C72-445F-8D2E-24900510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value − shipping − transfer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− lateness − unfilled penalty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4A92E-20AF-4486-B075-6E6E089E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Subject 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ED2DD-5187-41D4-B490-9D053424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ATP limits  •  plant capacity  •  option eligibility  •  one option per group</a:t>
            </a:r>
          </a:p>
        </p:txBody>
      </p:sp>
      <p:cxnSp>
        <p:nvCxnSpPr>
          <p:cNvPr id="105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76550" y="34956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CDF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12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972300" y="34956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8E2B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0C37F-3C61-4FEF-93F2-C44B936D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solidFill>
              <a:srgbClr val="0B17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8DD775-408E-4989-969B-58CE2CF5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B5C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B5C8"/>
                </a:solidFill>
                <a:latin typeface="Arial"/>
                <a:ea typeface="Arial"/>
                <a:cs typeface="Arial"/>
              </a:rPr>
              <a:t>Why it is hard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3E8C3-BEAE-40E4-BA0A-4A488EBC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81625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Inventory couples many groups. Improving one allocation can require coordinated changes elsewhere—exactly the failure mode that local search and quantum neighborhoods target.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D89837-C1EF-4F6B-A16C-768DAD99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E3AE79-48FE-400C-9681-462F7D0D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Model and terms: docs/mathematical_formulation.md • docs/data_guide.md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6C74DB-4F6D-42AE-9B99-F80EE39E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952023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9DF351-488A-4E8E-84E4-F751B683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ED8B2-9884-4053-9F13-90F65951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The hybrid solver keeps feasibility deterministic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5664D-FEEF-4A1E-B1C6-415CE2D9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15C90-2F7B-43C1-A8E2-3BB105FC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142A5-10ED-46E6-94FF-D905D6CE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924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14288">
            <a:solidFill>
              <a:srgbClr val="2D6C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48B5C-B971-4B7C-B6F0-62B546A8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1  Validate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2B2D4-05B4-4DD1-96FA-0FD201B6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7177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Schema, domains, ATP and capacity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041B6-8EF3-41E0-B7A1-848024E2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1924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FF5F7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34BEB-5903-492D-9128-2BFC5AE7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7F8C"/>
                </a:solidFill>
                <a:latin typeface="Arial"/>
                <a:ea typeface="Arial"/>
                <a:cs typeface="Arial"/>
              </a:rPr>
              <a:t>2  Construct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21E6D-9758-4355-99F9-B2F3927A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7177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Greedy or HiGHS feasible incumbent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04917-759A-4401-A06D-5CD666F8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924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6F5ED"/>
          </a:solidFill>
          <a:ln xmlns:a="http://schemas.openxmlformats.org/drawingml/2006/main" w="14288">
            <a:solidFill>
              <a:srgbClr val="2BAE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97FB2-E91C-46C5-B1AF-052DA45A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479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BAE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BAE66"/>
                </a:solidFill>
                <a:latin typeface="Arial"/>
                <a:ea typeface="Arial"/>
                <a:cs typeface="Arial"/>
              </a:rPr>
              <a:t>3  Polish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F960A-BD41-406F-A772-0BEF8B3E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7177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Restricted MILP fixes obvious losses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6BC97-FF3C-494A-B7D0-FF63FCF6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38350"/>
            <a:ext cx="1924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F28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8A61A-C6FF-4497-B595-B26FAE36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479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4  Explore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525A5-ED89-4F63-A771-5C68FF80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7177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Exact or QAOA-sampled neighborhood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A9C72-BD4D-4533-A93D-A3634AC5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17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ADB6C-C9CC-4004-8A42-3D8F736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479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5  Repair + 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1D7E9-F4EA-474C-9007-E6940229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71775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Deterministic recourse and final validator</a:t>
            </a:r>
          </a:p>
        </p:txBody>
      </p:sp>
      <p:cxnSp>
        <p:nvCxnSpPr>
          <p:cNvPr id="11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24100" y="28479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72A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48200" y="28479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72A"/>
            </a:solidFill>
            <a:prstDash val="solid"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72300" y="28479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72A"/>
            </a:solidFill>
            <a:prstDash val="solid"/>
            <a:tail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28479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72A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EA17D-8A0B-4512-B73F-6094116D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2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Quantum neighborhood (optional)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8A4330-ACB3-43C9-B136-712C3935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3919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27EEA3-BA51-4B88-B16B-1384C44A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9525">
            <a:solidFill>
              <a:srgbClr val="E7EE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D1EAB-E628-4014-B139-E96E5412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CEEA3-E0DE-4D81-BFF4-0BE8C11D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529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Feasible start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8D710-766A-42F2-8C17-D820070C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linear W-state per group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995BCC-AD1C-44D3-B07F-F9A1A795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72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9525">
            <a:solidFill>
              <a:srgbClr val="E7EE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96FC01-7D7B-402E-B2F7-DE8E4029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72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DB8FF1-640E-4E7E-8F40-399A4E73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7529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Mixer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E0DB11-DFBF-474A-8CE3-9017E86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1054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path XY preserves one-hot structure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65A141-B960-449B-841A-0D358EB0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72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9525">
            <a:solidFill>
              <a:srgbClr val="E7EE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445740-56B2-466F-B6AB-E00F18C3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72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C08A8B-7882-4B3D-8039-FC95C78F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529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F7FC2F-7B0B-43DB-961C-E62DF20B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054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warm parameters + deterministic cache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0548D3-63EC-48AC-BF5E-1F20DBB3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5327ED-133C-41EB-BF13-0CD10D90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E6E7D4-387E-466C-9608-A3B3821C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529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CE812E-4C01-4734-80E3-C47E9CCD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054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multi-seed gaps and Wilson intervals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09B3E0-585A-4800-955B-406B1DD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01CB29-A3FF-45E6-B1F9-D631FDD4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Implementation: src/domopt/classical.py • src/domopt/hybrid.py • src/domopt/quantum.py • src/domopt/hardware.py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F1DCCD-FAF3-4928-A387-6EE08191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1680345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206526-47D5-4EE6-A4E9-6EFCF314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0D5FB-20B0-4CAB-8635-FB1F74A7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5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On the real 20-group subset, polish reaches the exact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4427C-CACB-472A-A1C6-19E30620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584D3-0D85-44C5-8E24-1734F53E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469F7-431A-45D3-BC3B-FED6D776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477125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df459743a41cd"/>
          <a:stretch xmlns:a="http://schemas.openxmlformats.org/drawingml/2006/main"/>
        </p:blipFill>
        <p:spPr>
          <a:xfrm xmlns:a="http://schemas.openxmlformats.org/drawingml/2006/main">
            <a:off x="571500" y="2390589"/>
            <a:ext cx="7124700" cy="25625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68242-16CA-4F43-A591-9C3F8687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D2095-C606-4882-BEEB-A761D0F9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5737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64.90%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A5136-847D-42B3-9A46-1BC0728E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objective capture after polishing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005FB-38AE-4E64-9741-FD52B793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11413-79BB-4B0D-BD66-924867BF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85737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3B5C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3B5C8"/>
                </a:solidFill>
                <a:latin typeface="Arial"/>
                <a:ea typeface="Arial"/>
                <a:cs typeface="Arial"/>
              </a:rPr>
              <a:t>68.50%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1D7B1-454F-4891-BFD9-DD01AF3A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384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demand fill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1DCA3-FE79-4D7D-BC4B-5E18D677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78B9F-AEAA-41EB-8DFD-357C7208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0517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BAE6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BAE66"/>
                </a:solidFill>
                <a:latin typeface="Arial"/>
                <a:ea typeface="Arial"/>
                <a:cs typeface="Arial"/>
              </a:rPr>
              <a:t>2.86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9AE9C-67AC-401A-BE8D-4347D4AE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polished median runtime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1E8F9-96D5-4791-AC86-8A7EB617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88D75-4448-4E61-AD8B-7D0E8F5D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0517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183EE-1609-4BEE-98C6-147F2B2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862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numeric residual violations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2165B-1C6B-43A6-A93A-4B4C0097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3619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F28E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53366-74DC-45AD-997E-073E07DE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05350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A5570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5570D"/>
                </a:solidFill>
                <a:latin typeface="Arial"/>
                <a:ea typeface="Arial"/>
                <a:cs typeface="Arial"/>
              </a:rPr>
              <a:t>+197.2 on the coordinated trap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ED654-81FE-4DC4-8648-93409BAD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86350"/>
            <a:ext cx="3162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Exact LNS and the hybrid escape the greedy basin; this is the strongest evidence for coordinated neighborhoods.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90A1F-AEDC-475B-9015-58C2EB2B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1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5D6B7D"/>
                </a:solidFill>
                <a:latin typeface="Arial"/>
                <a:ea typeface="Arial"/>
                <a:cs typeface="Arial"/>
              </a:rPr>
              <a:t>Objective capture = achieved objective ÷ total requested merchandise value; it is not an optimality gap.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BF17C-9253-4CC0-AC98-D865D10E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ED68F-19F1-40D3-A719-059594D8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Evidence: results/final/tables/solver_comparison.csv • synthetic_coordination_control.csv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59AD0-5968-404D-872A-6EE2366A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2048095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BCC703-2C12-4852-9425-25178D35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C6A6A-BF9C-4F1C-A281-11287178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9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HiGHS stays portable; exact methods are escalation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3D9D3-DF55-4683-AEE8-FA9F4EE0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918AD-222C-4CDA-8E8C-03A101F0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70479-A7C2-43EC-BDFD-07DB869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442c718124714"/>
          <a:stretch xmlns:a="http://schemas.openxmlformats.org/drawingml/2006/main"/>
        </p:blipFill>
        <p:spPr>
          <a:xfrm xmlns:a="http://schemas.openxmlformats.org/drawingml/2006/main">
            <a:off x="581025" y="1966424"/>
            <a:ext cx="6877050" cy="355380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5842C-7902-44C7-9106-1B5A6C74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8290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9525">
            <a:solidFill>
              <a:srgbClr val="2D6C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F14D6-C271-46E6-AC86-DB670120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09D4D-BF9F-4741-8FEE-0B74175A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AB3C0-624E-4DBC-83AA-5B11490D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573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SciPy + HiGHS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7AAB6-2F4B-4B77-A1AA-17B43477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764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Open-source, cross-platform, and always used unless another backend is explicitly requested.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477D8-D3A4-4611-976B-C95DB218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19425"/>
            <a:ext cx="38290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FF5F7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71FC5-2AE4-405E-961A-AF1ECE4C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90875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4CAA9-3A62-45E0-BB65-88577CA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908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F8C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44DC2-2224-4047-B135-F0FDE276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Gurobi parity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76704-E108-4D82-ADF4-F05D6C75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A licensed benchmark path; never required and never selected silently.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4CD54-811E-4CC7-A7CF-32F9B389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38290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A5570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91AF3-803C-4A14-944A-391618D8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B2B96-1A33-47E8-B8FC-0AA822B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557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5570D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FB841-C1ED-4C35-B5CA-7768A32A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053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Exact LNS / quantum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E40B0-61E8-4BDC-8EEC-5EEF591B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244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Spend extra compute only on hard, coupled neighborhoods.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AE3C7-A127-4B62-8D29-0AA47E8A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At 372 groups: greedy ≈16.7 s • polished ≈54.6 s • exact LNS ≈74.0 s (medians).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51BF8-C045-4E59-9167-774DAA8D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451D5-441A-4940-9B67-26DCBC86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Evidence: results/final/tables/size_scaling.csv • optional backend experiment in notebooks/nestle_challenge_experiments.ipynb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405DB-D88C-4709-B2B7-A684A61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1855953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8A418-E4AE-499C-9868-F6FB8AC8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6CD5B-5235-4C2B-885A-490FCF40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999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Hardware evidence favors shallow, constraint-aware circuits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B5575-F6FA-426C-8DF7-DE633229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B27B9-F0CB-4F12-A3EF-26D243B2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630E7-CDC8-4D86-BBFE-84DC7DB8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2771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2de284df2437a"/>
          <a:stretch xmlns:a="http://schemas.openxmlformats.org/drawingml/2006/main"/>
        </p:blipFill>
        <p:spPr>
          <a:xfrm xmlns:a="http://schemas.openxmlformats.org/drawingml/2006/main">
            <a:off x="590550" y="2165164"/>
            <a:ext cx="6896100" cy="2794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DBDE4-A2D9-48AD-8D8C-DBA706B0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1828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ABA48-4302-42AB-97FA-5A81F9F7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57375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BAE6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BAE66"/>
                </a:solidFill>
                <a:latin typeface="Arial"/>
                <a:ea typeface="Arial"/>
                <a:cs typeface="Arial"/>
              </a:rPr>
              <a:t>p 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6F578-F73A-48D7-8D19-DC45CAC5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38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122 two-qubit gates • depth 138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9AAAA-08B9-466E-BD03-957890FE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828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3D924-C134-4F2A-BC20-DC57D3FC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857375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2BAE6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BAE66"/>
                </a:solidFill>
                <a:latin typeface="Arial"/>
                <a:ea typeface="Arial"/>
                <a:cs typeface="Arial"/>
              </a:rPr>
              <a:t>50.8–59.0%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6694F-275B-4323-BD2F-AFDA4DF0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38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median raw one-hot validity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042F9-005F-4C4B-9FD5-75D75D73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24200"/>
            <a:ext cx="1828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B6DC7-7AE7-4D8B-A982-A146709B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86125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D9534F"/>
                </a:solidFill>
                <a:latin typeface="Arial"/>
                <a:ea typeface="Arial"/>
                <a:cs typeface="Arial"/>
              </a:rPr>
              <a:t>p =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7E488-D9B0-414F-A703-BB556E2F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420 two-qubit gates • depth 458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84065-0B39-4EDB-96A2-3E1AD7D9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24200"/>
            <a:ext cx="1828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FD5B9-1718-48B6-8D4D-93D3EA3F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86125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9534F"/>
                </a:solidFill>
                <a:latin typeface="Arial"/>
                <a:ea typeface="Arial"/>
                <a:cs typeface="Arial"/>
              </a:rPr>
              <a:t>12.1–15.2%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8C761-A98E-449A-A624-4164BFBC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671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median raw one-hot validity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E6C74-30A2-44E5-BE63-392B975D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3829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solidFill>
              <a:srgbClr val="0B17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C019F-15AC-4E2E-B4D1-51E25982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3B5C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B5C8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6DCAB-E816-4678-9194-B4F63DC9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00625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Deeper ideal QAOA improves, but hardware noise overwhelms the benefit. Recourse restores final feasibility.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D6949-BC2A-4EB1-8734-8BCF5D2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No quantum-advantage claim: 18 QPU jobs are evidence of execution and failure modes, not superiority. Archived runs predate the strengthened W-state/path-mixer implementation.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735E8-268F-47D3-95D4-9091CC20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9D8F2-DC31-4202-83AB-4CAA360D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Evidence: results/final/ibm • strengthened circuit code: src/domopt/quantum.py and src/domopt/hardware.py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03854-242F-4DA7-B945-CAEC40BA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77547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F35432-89EE-480F-AAD0-BDC0A084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7E53B-D157-48F5-8EA9-5592714C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Deploy the hybrid now; treat quantum as a measured R&amp;D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A2EFD-891B-4FB0-851E-7D6075AB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9CECB-74AA-4DCB-A13D-E8CC5646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8D607-0FAA-4379-BF5D-AF9DCD4F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451485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solidFill>
              <a:srgbClr val="0B17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A40CF-38BE-40E7-AE95-0D70B673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454"/>
          </a:solidFill>
          <a:ln xmlns:a="http://schemas.openxmlformats.org/drawingml/2006/main" w="9525">
            <a:solidFill>
              <a:srgbClr val="1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FB479-38DC-4435-905C-32160A7F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3B5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3B5C8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AC5F1-D103-4DA3-9A8E-AEC97542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Production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29244-5870-4889-8AA5-9C06D202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37338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12"/>
              </a:spcAft>
              <a:buChar char="•"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polished HiGHS as the portable default.</a:t>
            </a:r>
          </a:p>
          <a:p xmlns:a="http://schemas.openxmlformats.org/drawingml/2006/main">
            <a:pPr marL="20" indent="-12" algn="l">
              <a:spcAft>
                <a:spcPts val="12"/>
              </a:spcAft>
              <a:buChar char="•"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Trigger exact LNS only when coupling or stagnation is detected.</a:t>
            </a:r>
          </a:p>
          <a:p xmlns:a="http://schemas.openxmlformats.org/drawingml/2006/main">
            <a:pPr marL="20" indent="-12" algn="l">
              <a:spcAft>
                <a:spcPts val="12"/>
              </a:spcAft>
              <a:buChar char="•"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Gurobi only when licensed; require objective parity.</a:t>
            </a:r>
          </a:p>
          <a:p xmlns:a="http://schemas.openxmlformats.org/drawingml/2006/main">
            <a:pPr marL="20" indent="-12" algn="l">
              <a:spcAft>
                <a:spcPts val="12"/>
              </a:spcAft>
              <a:buChar char="•"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 provenance, feasibility, gaps, and sampler quality on every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BDA1C-F78C-4A96-BB20-A96EAA68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90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Improvement roadmap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DEC5D-1374-4EB3-A8FB-E54F7750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19350"/>
            <a:ext cx="600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9525">
            <a:solidFill>
              <a:srgbClr val="2D6C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5393C-EFA2-4D15-9399-0C67E500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90800"/>
            <a:ext cx="5905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5616A-1FEA-4933-884A-751D1E7F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908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E6EE9-D928-4CEB-92B9-395F8966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Operational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6F114-AE18-4BA8-A001-C56E75F5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860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Scenario stress tests • calibrate penalties • automated hard-neighborhood detection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2CA52-13AF-4A80-A24B-C73E6C55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86150"/>
            <a:ext cx="5524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5F7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FF244-5696-467B-8933-600639DF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57600"/>
            <a:ext cx="5905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75E09-588B-4078-8ED2-1D8DA0E7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576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F8C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237AF-DE59-453D-BFE5-F10AC3C6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3855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Search efficiency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A21CE-7A27-4522-8DF7-FFDD5882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528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Parallel LNS • adaptive neighborhood size • incumbent diversity • warm starts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2D319-AEBF-4E27-A7CF-30B8A06E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5048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A5570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A1904-BC45-455F-9AD1-2E73DC70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5905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CF052A-46DC-459F-9EDA-A4E0C9DA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557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5570D"/>
                </a:solidFill>
                <a:latin typeface="Arial"/>
                <a:ea typeface="Arial"/>
                <a:cs typeface="Arial"/>
              </a:rPr>
              <a:t>R&amp;D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88A72-2F9E-440A-B81B-970686F2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053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Quantum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803CD-34FD-47D4-B6BE-DDF8F9F2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19675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238"/>
                </a:solidFill>
                <a:latin typeface="Arial"/>
                <a:ea typeface="Arial"/>
                <a:cs typeface="Arial"/>
              </a:rPr>
              <a:t>Hardware-aware topology • CVaR objectives • angle transfer • stronger mitigation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ED3AAC-3AD3-4592-9377-A122063E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5ED"/>
          </a:solidFill>
          <a:ln xmlns:a="http://schemas.openxmlformats.org/drawingml/2006/main" w="9525">
            <a:solidFill>
              <a:srgbClr val="E6F5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130938-CAD8-459F-B822-B8B1B6C9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BAE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BAE66"/>
                </a:solidFill>
                <a:latin typeface="Arial"/>
                <a:ea typeface="Arial"/>
                <a:cs typeface="Arial"/>
              </a:rPr>
              <a:t>FEASIBLE FIRST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4C5E69-31A9-45DD-AD01-FC7F02AF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86740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9525">
            <a:solidFill>
              <a:srgbClr val="E7EE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944B96-4078-48E9-A2AC-EE24B86B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8674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CDF"/>
                </a:solidFill>
                <a:latin typeface="Arial"/>
                <a:ea typeface="Arial"/>
                <a:cs typeface="Arial"/>
              </a:rPr>
              <a:t>REPRODUCIBLE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FBB1F8-F30F-4A6B-BA67-25A48EC2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67400"/>
            <a:ext cx="2571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30EF19-53B4-4316-AC00-0918B39E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6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557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5570D"/>
                </a:solidFill>
                <a:latin typeface="Arial"/>
                <a:ea typeface="Arial"/>
                <a:cs typeface="Arial"/>
              </a:rPr>
              <a:t>QUANTUM CLAIMS: EVIDENCE ONLY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5BE02E-8C09-4302-9ADB-546A48E5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4835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642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The strongest solver is the one that improves decisions without weakening trust.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8CEA38-FBE2-4F85-9BD5-EAD80C22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570EAC-F194-4A9F-8823-8E753F5D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Full analysis and references: reports/final_report.pdf • setup and repository map: README.md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A7DDDD-0A40-4628-B4F1-9EDD51CA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D6B7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B7D"/>
                </a:solidFill>
                <a:latin typeface="Arial"/>
                <a:ea typeface="Arial"/>
                <a:cs typeface="Arial"/>
              </a:rPr>
              <a:t>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12199007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2026-08-08T02:55:54.6850000Z</dcterms:created>
  <dcterms:modified xsi:type="dcterms:W3CDTF">2026-08-08T02:55:54.6850000Z</dcterms:modified>
</coreProperties>
</file>