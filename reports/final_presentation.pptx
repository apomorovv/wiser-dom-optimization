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0a8aab33e54188" /><Relationship Type="http://schemas.openxmlformats.org/officeDocument/2006/relationships/extended-properties" Target="/docProps/app.xml" Id="Rd782d08e88bc413e" /><Relationship Type="http://schemas.openxmlformats.org/officeDocument/2006/relationships/officeDocument" Target="/ppt/presentation.xml" Id="R9e2e311d70a44e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33ef847a4447d6"/>
  </p:sldMasterIdLst>
  <p:notesMasterIdLst>
    <p:notesMasterId xmlns:r="http://schemas.openxmlformats.org/officeDocument/2006/relationships" r:id="Rc46da091cba84ed1"/>
  </p:notesMasterIdLst>
  <p:sldIdLst>
    <p:sldId xmlns:r="http://schemas.openxmlformats.org/officeDocument/2006/relationships" id="256" r:id="R1c3f45d2b527480d"/>
    <p:sldId xmlns:r="http://schemas.openxmlformats.org/officeDocument/2006/relationships" id="257" r:id="R305ae845c5b4493d"/>
    <p:sldId xmlns:r="http://schemas.openxmlformats.org/officeDocument/2006/relationships" id="258" r:id="R9441bf2ef28c4dfb"/>
    <p:sldId xmlns:r="http://schemas.openxmlformats.org/officeDocument/2006/relationships" id="259" r:id="Ra44b192197384d5e"/>
    <p:sldId xmlns:r="http://schemas.openxmlformats.org/officeDocument/2006/relationships" id="260" r:id="Rb41426cb49b648f6"/>
    <p:sldId xmlns:r="http://schemas.openxmlformats.org/officeDocument/2006/relationships" id="261" r:id="Rca8dfe0967754985"/>
    <p:sldId xmlns:r="http://schemas.openxmlformats.org/officeDocument/2006/relationships" id="262" r:id="R05b14d827c3545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280d33e6b14f58" /><Relationship Type="http://schemas.openxmlformats.org/officeDocument/2006/relationships/slideMaster" Target="/ppt/slideMasters/slideMaster1.xml" Id="Rbb33ef847a4447d6" /><Relationship Type="http://schemas.openxmlformats.org/officeDocument/2006/relationships/notesMaster" Target="/ppt/notesMasters/notesMaster1.xml" Id="Rc46da091cba84ed1" /><Relationship Type="http://schemas.openxmlformats.org/officeDocument/2006/relationships/presProps" Target="/ppt/presProps.xml" Id="R672823bff19e492a" /><Relationship Type="http://schemas.openxmlformats.org/officeDocument/2006/relationships/tableStyles" Target="/ppt/tableStyles.xml" Id="R62808507a3174db5" /><Relationship Type="http://schemas.openxmlformats.org/officeDocument/2006/relationships/slide" Target="/ppt/slides/slide1.xml" Id="R1c3f45d2b527480d" /><Relationship Type="http://schemas.openxmlformats.org/officeDocument/2006/relationships/slide" Target="/ppt/slides/slide2.xml" Id="R305ae845c5b4493d" /><Relationship Type="http://schemas.openxmlformats.org/officeDocument/2006/relationships/slide" Target="/ppt/slides/slide3.xml" Id="R9441bf2ef28c4dfb" /><Relationship Type="http://schemas.openxmlformats.org/officeDocument/2006/relationships/slide" Target="/ppt/slides/slide4.xml" Id="Ra44b192197384d5e" /><Relationship Type="http://schemas.openxmlformats.org/officeDocument/2006/relationships/slide" Target="/ppt/slides/slide5.xml" Id="Rb41426cb49b648f6" /><Relationship Type="http://schemas.openxmlformats.org/officeDocument/2006/relationships/slide" Target="/ppt/slides/slide6.xml" Id="Rca8dfe0967754985" /><Relationship Type="http://schemas.openxmlformats.org/officeDocument/2006/relationships/slide" Target="/ppt/slides/slide7.xml" Id="R05b14d827c3545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8d9c4443cd49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097c31ecdc4680" /><Relationship Type="http://schemas.openxmlformats.org/officeDocument/2006/relationships/notesMaster" Target="/ppt/notesMasters/notesMaster1.xml" Id="R1c0eabcec68c48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927b63cd5f4a6a" /><Relationship Type="http://schemas.openxmlformats.org/officeDocument/2006/relationships/notesMaster" Target="/ppt/notesMasters/notesMaster1.xml" Id="Ra875a8c5bab84e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b038699b4c486b" /><Relationship Type="http://schemas.openxmlformats.org/officeDocument/2006/relationships/notesMaster" Target="/ppt/notesMasters/notesMaster1.xml" Id="R047c36d608b34b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ba3192ae6154b28" /><Relationship Type="http://schemas.openxmlformats.org/officeDocument/2006/relationships/notesMaster" Target="/ppt/notesMasters/notesMaster1.xml" Id="R0428531ce35345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315a40776d471b" /><Relationship Type="http://schemas.openxmlformats.org/officeDocument/2006/relationships/notesMaster" Target="/ppt/notesMasters/notesMaster1.xml" Id="R940c6e3af41948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d827a7caf4415a" /><Relationship Type="http://schemas.openxmlformats.org/officeDocument/2006/relationships/notesMaster" Target="/ppt/notesMasters/notesMaster1.xml" Id="R8cc627fbc28b43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3350554459450c" /><Relationship Type="http://schemas.openxmlformats.org/officeDocument/2006/relationships/notesMaster" Target="/ppt/notesMasters/notesMaster1.xml" Id="Raa6fc585b32b4f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reports/challenge_submission_report.md</a:t>
            </a:r>
          </a:p>
          <a:p xmlns:a="http://schemas.openxmlformats.org/drawingml/2006/main">
            <a:r>
              <a:t>- reports/final_report.md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 with the audited scope: 516 rows, 513 validated plans, and the final scaling/hardware matrix.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docs/data_guide.md</a:t>
            </a:r>
          </a:p>
          <a:p xmlns:a="http://schemas.openxmlformats.org/drawingml/2006/main">
            <a:r>
              <a:t>- docs/mathematical_formulation.md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 objective capture and why load cohesion plus cumulative ATP make the problem coupled.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docs/solver_method.md</a:t>
            </a:r>
          </a:p>
          <a:p xmlns:a="http://schemas.openxmlformats.org/drawingml/2006/main">
            <a:r>
              <a:t>- src/domopt/hybrid.py</a:t>
            </a:r>
          </a:p>
          <a:p xmlns:a="http://schemas.openxmlformats.org/drawingml/2006/main">
            <a:r>
              <a:t>- src/domopt/quantum.py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Emphasize that samplers propose; exact recourse and the validator accept or reject.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results/final/figures/submission_solver_summary.png</a:t>
            </a:r>
          </a:p>
          <a:p xmlns:a="http://schemas.openxmlformats.org/drawingml/2006/main">
            <a:r>
              <a:t>- results/final/figures/submission_coordination_summary.png</a:t>
            </a:r>
          </a:p>
          <a:p xmlns:a="http://schemas.openxmlformats.org/drawingml/2006/main">
            <a:r>
              <a:t>- reports/challenge_submission_report.md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full MILP is time-limited and has a nonzero gap; do not call that row exact.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results/final/figures/submission_scaling_summary.png</a:t>
            </a:r>
          </a:p>
          <a:p xmlns:a="http://schemas.openxmlformats.org/drawingml/2006/main">
            <a:r>
              <a:t>- reports/final_report.md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 372 real groups the local hybrid QUBO is at most 16 variables; generated scaling reaches 32.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results/final/figures/submission_ibm_depth_summary.png</a:t>
            </a:r>
          </a:p>
          <a:p xmlns:a="http://schemas.openxmlformats.org/drawingml/2006/main">
            <a:r>
              <a:t>- results/final/ibm/figures/ibm_hardware_stress.png</a:t>
            </a:r>
          </a:p>
          <a:p xmlns:a="http://schemas.openxmlformats.org/drawingml/2006/main">
            <a:r>
              <a:t>- reports/final_report.md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QAOA is the proposal method. ibm_marrakesh is the processor/execution target. Queue time is separate from execution.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reports/planner_view.md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docs/challenge_checklist.md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Close on deployable classical value, a shadow-mode pilot, and a bounded measurement program for future QAOA.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fca51a07e4e7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4943ee9c4648dc" /><Relationship Type="http://schemas.openxmlformats.org/officeDocument/2006/relationships/slideLayout" Target="/ppt/slideLayouts/slideLayout1.xml" Id="R07ae2ce8f4234b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ae2ce8f4234b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95e8ff8894746" /><Relationship Type="http://schemas.openxmlformats.org/officeDocument/2006/relationships/notesSlide" Target="/ppt/notesSlides/notesSlide1.xml" Id="R2a39578dfd084d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8d348146db4429" /><Relationship Type="http://schemas.openxmlformats.org/officeDocument/2006/relationships/notesSlide" Target="/ppt/notesSlides/notesSlide2.xml" Id="Rb23f0d9fcbcc4a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2aec2e729453a" /><Relationship Type="http://schemas.openxmlformats.org/officeDocument/2006/relationships/notesSlide" Target="/ppt/notesSlides/notesSlide3.xml" Id="Ra6c431e1510545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4228e7d86944d6" /><Relationship Type="http://schemas.openxmlformats.org/officeDocument/2006/relationships/image" Target="/ppt/media/image.png" Id="R0f75db5309dd4806" /><Relationship Type="http://schemas.openxmlformats.org/officeDocument/2006/relationships/notesSlide" Target="/ppt/notesSlides/notesSlide4.xml" Id="R57ccbb93814541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f4244baf3e438b" /><Relationship Type="http://schemas.openxmlformats.org/officeDocument/2006/relationships/image" Target="/ppt/media/image2.png" Id="R286f0a84b20c4cc7" /><Relationship Type="http://schemas.openxmlformats.org/officeDocument/2006/relationships/notesSlide" Target="/ppt/notesSlides/notesSlide5.xml" Id="R20c8c56bc56847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5c99e8470477e" /><Relationship Type="http://schemas.openxmlformats.org/officeDocument/2006/relationships/image" Target="/ppt/media/image3.png" Id="R4a168ebe6ada4cea" /><Relationship Type="http://schemas.openxmlformats.org/officeDocument/2006/relationships/notesSlide" Target="/ppt/notesSlides/notesSlide6.xml" Id="Rd62f5ec8439346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61db468ce4fc0" /><Relationship Type="http://schemas.openxmlformats.org/officeDocument/2006/relationships/notesSlide" Target="/ppt/notesSlides/notesSlide7.xml" Id="R4602ad4f9ce948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AD69A6E-E029-4190-9430-85048E99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69CFD-28C5-440D-B15C-317859A7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621871-ACC5-443B-ACA6-99028F2B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E4271-4048-41B9-A761-8A29C17D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F83674-835E-415F-957C-910E61D5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89FE5D-CC06-4EFA-BB6C-58479C9D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7D5C2-38CC-4D12-B75B-C0A27B4A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65B26E-78B2-470E-B1FE-43CFB4B6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E7051-4DF2-45E0-AF45-762E25C0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B31FFB-2A55-43C4-A46F-21CA2FC9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B08817-6B50-46C0-8742-13D5076C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1E4CB4-6331-44A0-9CBB-268E5FE4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F2E82B-F0D8-4DD3-BE4B-CC7BFF2F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B36522-4AD0-43A5-9EAC-A8BC0093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04D9ED-6236-43E3-97AC-73B70538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8CF0A5-2965-4BCC-AAB4-1A6F7A11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89A555-1C20-49BF-83CB-73234568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5AD98C-B054-4CB6-85A4-7E30D9B4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A9D0EF-1488-48B9-80B1-DD930088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42FED0-BECB-48C6-807D-FA655DCB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DFAFF7-EDFE-4018-9B48-49FECBF3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9EDF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13E0F9-D020-45D5-8E59-C234876D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524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EFF"/>
          </a:solidFill>
          <a:ln xmlns:a="http://schemas.openxmlformats.org/drawingml/2006/main" w="9525">
            <a:solidFill>
              <a:srgbClr val="E7EE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754607-D59B-413F-8AB9-1FCA3732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986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WISER QUANTUM CHALLENGE • FINAL SUBMISSION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B1D724-CE61-4EBB-B898-B70D1176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67627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950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4950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Scalable, safeguarded</a:t>
            </a:r>
          </a:p>
          <a:p xmlns:a="http://schemas.openxmlformats.org/drawingml/2006/main">
            <a:pPr algn="l">
              <a:buNone/>
              <a:defRPr sz="4950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4950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DOM optimization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26BFF4-41A2-4652-95E9-83375759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29025"/>
            <a:ext cx="619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A feasibility-first hierarchy from greedy planning to bounded QAOA proposals.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7553F5-5EB7-4EDE-8A45-B4CB2AA5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149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Greedy  •  exact recourse  •  exact LNS  •  bounded QUBO/QAOA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832452-2F4F-4EA4-B09F-D7D1B2E3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19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Andrei Pomorov | Aug 2026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8C59AE-B903-4ED6-8BB6-B6BF6301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457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0">
            <a:solidFill>
              <a:srgbClr val="0B172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4D32A1-4087-49E2-A20C-E90A44E1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9530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Submission 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5D978D-D363-43F1-85F5-D39E6B8C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219200"/>
            <a:ext cx="3381375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142A46"/>
          </a:solidFill>
          <a:ln xmlns:a="http://schemas.openxmlformats.org/drawingml/2006/main" w="9525">
            <a:solidFill>
              <a:srgbClr val="29415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C7CFFD-085C-42D3-BDA4-DA29E9D2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81125"/>
            <a:ext cx="3038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3B5C8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13B5C8"/>
                </a:solidFill>
                <a:latin typeface="Arial"/>
                <a:ea typeface="Arial"/>
                <a:cs typeface="Arial"/>
              </a:rPr>
              <a:t>516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0FE235-C305-4F38-9AC0-B59C64D7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62150"/>
            <a:ext cx="30384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D4E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C8D4E3"/>
                </a:solidFill>
                <a:latin typeface="Arial"/>
                <a:ea typeface="Arial"/>
                <a:cs typeface="Arial"/>
              </a:rPr>
              <a:t>aggregate rows across 14 audited families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724FDD-0FBB-43E7-BDDA-62F879C7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24150"/>
            <a:ext cx="3381375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142A46"/>
          </a:solidFill>
          <a:ln xmlns:a="http://schemas.openxmlformats.org/drawingml/2006/main" w="9525">
            <a:solidFill>
              <a:srgbClr val="2941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412B0B-06A5-4C6F-A786-959097EB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86075"/>
            <a:ext cx="3038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28E2B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28E2B"/>
                </a:solidFill>
                <a:latin typeface="Arial"/>
                <a:ea typeface="Arial"/>
                <a:cs typeface="Arial"/>
              </a:rPr>
              <a:t>+1.86 pp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189F89-2E2B-438A-83D0-9A7B458B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67100"/>
            <a:ext cx="30384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D4E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C8D4E3"/>
                </a:solidFill>
                <a:latin typeface="Arial"/>
                <a:ea typeface="Arial"/>
                <a:cs typeface="Arial"/>
              </a:rPr>
              <a:t>objective capture vs default on 100 groups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747E4B-1F7A-43A8-BB39-2DC9FF8D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29100"/>
            <a:ext cx="3381375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142A46"/>
          </a:solidFill>
          <a:ln xmlns:a="http://schemas.openxmlformats.org/drawingml/2006/main" w="9525">
            <a:solidFill>
              <a:srgbClr val="29415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BBD72A-37A4-4687-B805-EA6002EA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91025"/>
            <a:ext cx="3038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100k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FD2D9C-1B1F-4ACD-B942-B3FCF93B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72050"/>
            <a:ext cx="30384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D4E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C8D4E3"/>
                </a:solidFill>
                <a:latin typeface="Arial"/>
                <a:ea typeface="Arial"/>
                <a:cs typeface="Arial"/>
              </a:rPr>
              <a:t>generated orders: greedy + exact LNS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AAB2039-03BE-45C8-B1FD-00D10ACD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6000750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6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C8D4E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C8D4E3"/>
                </a:solidFill>
                <a:latin typeface="Arial"/>
                <a:ea typeface="Arial"/>
                <a:cs typeface="Arial"/>
              </a:rPr>
              <a:t>513 validated plans  •  18 QPU jobs  •  8,192 shots/job</a:t>
            </a:r>
          </a:p>
        </p:txBody>
      </p:sp>
    </p:spTree>
    <p:extLst>
      <p:ext uri="{BB962C8B-B14F-4D97-AF65-F5344CB8AC3E}">
        <p14:creationId xmlns:p14="http://schemas.microsoft.com/office/powerpoint/2010/main" val="6060488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3246C8-1652-40FC-8135-F3508078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WISER QUANTUM CHALLENGE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9A15BE-7434-41CC-8FE7-7287D163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33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DOM is constrained allocation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69F868-96E3-440B-BA20-7D508891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85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F5951D-4DC4-44E2-A274-CD56C2F1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9EBC8D-6F55-4E29-9295-B7E580A3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EFF"/>
          </a:solidFill>
          <a:ln xmlns:a="http://schemas.openxmlformats.org/drawingml/2006/main" w="9525">
            <a:solidFill>
              <a:srgbClr val="E7EE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E4C82E-E683-4116-9461-99D5FC25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8D18C8-0342-4D26-82C8-246CB5BE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2476500" cy="27622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28DDA9-4055-4EF4-8944-38B1EA32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Orders, lines, and loads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7A8599-C959-459B-B5FD-53CED00E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43225"/>
            <a:ext cx="2019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38100" bIns="0" anchor="t">
            <a:normAutofit fontScale="99352"/>
          </a:bodyPr>
          <a:lstStyle xmlns:a="http://schemas.openxmlformats.org/drawingml/2006/main"/>
          <a:p xmlns:a="http://schemas.openxmlformats.org/drawingml/2006/main">
            <a:pPr marL="20" indent="-12" algn="l">
              <a:spcAft>
                <a:spcPts val="8"/>
              </a:spcAft>
              <a:buChar char="•"/>
              <a:defRPr sz="1350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demand, value, and service rules</a:t>
            </a:r>
          </a:p>
          <a:p xmlns:a="http://schemas.openxmlformats.org/drawingml/2006/main">
            <a:pPr marL="20" indent="-12" algn="l">
              <a:spcAft>
                <a:spcPts val="8"/>
              </a:spcAft>
              <a:buChar char="•"/>
              <a:defRPr sz="1350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eligible DC/date alternatives</a:t>
            </a:r>
          </a:p>
          <a:p xmlns:a="http://schemas.openxmlformats.org/drawingml/2006/main">
            <a:pPr marL="20" indent="-12" algn="l">
              <a:spcAft>
                <a:spcPts val="8"/>
              </a:spcAft>
              <a:buChar char="•"/>
              <a:defRPr sz="1350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protected cumulative ATP</a:t>
            </a:r>
          </a:p>
          <a:p xmlns:a="http://schemas.openxmlformats.org/drawingml/2006/main">
            <a:pPr marL="20" indent="-12" algn="l">
              <a:spcAft>
                <a:spcPts val="8"/>
              </a:spcAft>
              <a:buChar char="•"/>
              <a:defRPr sz="1350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dock and optional resource limits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FA0154-E9C3-4108-8478-123696A8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695450"/>
            <a:ext cx="1066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5F7"/>
          </a:solidFill>
          <a:ln xmlns:a="http://schemas.openxmlformats.org/drawingml/2006/main" w="9525">
            <a:solidFill>
              <a:srgbClr val="DFF5F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F9BBB6-48EF-4812-A4F3-18D436BE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69545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87F8C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76412B-FA66-40CB-9D73-1C38EA8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114550"/>
            <a:ext cx="360045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9BD28-E1DB-4AB1-BA76-43FE9EF2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43150"/>
            <a:ext cx="3105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Choose one outcome per order group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E8A314-626D-4BB7-924A-70405C2B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133725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xgc ∈ {0,1}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072AE7-38C7-4ADB-B116-3001BD04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24275"/>
            <a:ext cx="30194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1 when group g selects candidate c; 0 otherwise.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3C3DB8-4FDD-4999-8E5B-C7A620B5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43865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8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28E2B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28E2B"/>
                </a:solidFill>
                <a:latin typeface="Arial"/>
                <a:ea typeface="Arial"/>
                <a:cs typeface="Arial"/>
              </a:rPr>
              <a:t>Unfilled demand is explicit and penalized.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51E6A1-59FD-47FF-8D32-48557472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695450"/>
            <a:ext cx="1181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DE"/>
          </a:solidFill>
          <a:ln xmlns:a="http://schemas.openxmlformats.org/drawingml/2006/main" w="9525">
            <a:solidFill>
              <a:srgbClr val="FFF0D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1FC795-CD2A-440E-B554-253C7D5B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69545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A5570D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A5570D"/>
                </a:solidFill>
                <a:latin typeface="Arial"/>
                <a:ea typeface="Arial"/>
                <a:cs typeface="Arial"/>
              </a:rPr>
              <a:t>OBJECTIVE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256F4E-15A8-41AD-AA32-C946BAB3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14550"/>
            <a:ext cx="432435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E6D109-533A-4D4D-85A2-C1EF11D4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431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Maximize validated service value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AF516B-2C72-445F-8D2E-24900510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71800"/>
            <a:ext cx="381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28E2B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28E2B"/>
                </a:solidFill>
                <a:latin typeface="Arial"/>
                <a:ea typeface="Arial"/>
                <a:cs typeface="Arial"/>
              </a:rPr>
              <a:t>fulfilled value − shipping</a:t>
            </a:r>
          </a:p>
          <a:p xmlns:a="http://schemas.openxmlformats.org/drawingml/2006/main">
            <a:pPr algn="l">
              <a:buNone/>
              <a:defRPr sz="1875" b="1" i="0">
                <a:solidFill>
                  <a:srgbClr val="F28E2B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28E2B"/>
                </a:solidFill>
                <a:latin typeface="Arial"/>
                <a:ea typeface="Arial"/>
                <a:cs typeface="Arial"/>
              </a:rPr>
              <a:t>− thresholded unmet penalty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24A92E-20AF-4486-B075-6E6E089E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195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Subject to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BED2DD-5187-41D4-B490-9D053424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24350"/>
            <a:ext cx="3733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cumulative ATP  •  capacity  •  eligibility  •  load cohesion  •  integer balance</a:t>
            </a:r>
          </a:p>
        </p:txBody>
      </p:sp>
      <p:cxnSp>
        <p:nvCxnSpPr>
          <p:cNvPr id="155" name=""/>
          <p:cNvCxnSpPr>
            <a:stCxn xmlns:a="http://schemas.openxmlformats.org/drawingml/2006/main" id="7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876550" y="34956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D6CDF"/>
            </a:solidFill>
            <a:prstDash val="solid"/>
            <a:tailEnd type="triangle" w="sm" len="sm"/>
          </a:ln>
        </p:spPr>
      </p:cxnSp>
      <p:cxnSp>
        <p:nvCxnSpPr>
          <p:cNvPr id="156" name=""/>
          <p:cNvCxnSpPr>
            <a:stCxn xmlns:a="http://schemas.openxmlformats.org/drawingml/2006/main" id="12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6972300" y="34956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28E2B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A0C37F-3C61-4FEF-93F2-C44B936D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B172A"/>
          </a:solidFill>
          <a:ln xmlns:a="http://schemas.openxmlformats.org/drawingml/2006/main" w="0">
            <a:solidFill>
              <a:srgbClr val="0B172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8DD775-408E-4989-969B-58CE2CF5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0067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3B5C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3B5C8"/>
                </a:solidFill>
                <a:latin typeface="Arial"/>
                <a:ea typeface="Arial"/>
                <a:cs typeface="Arial"/>
              </a:rPr>
              <a:t>Why it is hard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23E8C3-BEAE-40E4-BA0A-4A488EBC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381625"/>
            <a:ext cx="9191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inventory couples groups. The solver must preserve a feasible incumbent while coordinated local search reopens only the decisions that interact.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D89837-C1EF-4F6B-A16C-768DAD99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E3AE79-48FE-400C-9681-462F7D0D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1057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Model and terms: docs/mathematical_formulation.md • docs/data_guide.md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6C74DB-4F6D-42AE-9B99-F80EE39E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865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9520234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19DF351-488A-4E8E-84E4-F751B683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WISER QUANTUM CHALLENGE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ED8B2-9884-4053-9F13-90F65951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33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The solver hierarchy keeps feasibility deterministic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5664D-FEEF-4A1E-B1C6-415CE2D9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85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15C90-2F7B-43C1-A8E2-3BB105FC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F142A5-10ED-46E6-94FF-D905D6CE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19240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EEFF"/>
          </a:solidFill>
          <a:ln xmlns:a="http://schemas.openxmlformats.org/drawingml/2006/main" w="14288">
            <a:solidFill>
              <a:srgbClr val="2D6CD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48B5C-B971-4B7C-B6F0-62B546A8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1  Validate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E2B2D4-05B4-4DD1-96FA-0FD201B6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7177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Schema, dates, domains, ATP, capacity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041B6-8EF3-41E0-B7A1-848024E2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38350"/>
            <a:ext cx="19240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DFF5F7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234BEB-5903-492D-9128-2BFC5AE7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4790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87F8C"/>
                </a:solidFill>
                <a:latin typeface="Arial"/>
                <a:ea typeface="Arial"/>
                <a:cs typeface="Arial"/>
              </a:rPr>
              <a:t>2  Construct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821E6D-9758-4355-99F9-B2F3927A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7177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Load-atomic greedy feasible incumbent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04917-759A-4401-A06D-5CD666F8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38350"/>
            <a:ext cx="19240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6F5ED"/>
          </a:solidFill>
          <a:ln xmlns:a="http://schemas.openxmlformats.org/drawingml/2006/main" w="14288">
            <a:solidFill>
              <a:srgbClr val="2BAE6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997FB2-E91C-46C5-B1AF-052DA45A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4790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2BAE66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2BAE66"/>
                </a:solidFill>
                <a:latin typeface="Arial"/>
                <a:ea typeface="Arial"/>
                <a:cs typeface="Arial"/>
              </a:rPr>
              <a:t>3  Polish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EF960A-BD41-406F-A772-0BEF8B3E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7177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Exact policy recourse optimizes quantities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86BC97-FF3C-494A-B7D0-FF63FCF6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38350"/>
            <a:ext cx="19240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0DE"/>
          </a:solidFill>
          <a:ln xmlns:a="http://schemas.openxmlformats.org/drawingml/2006/main" w="14288">
            <a:solidFill>
              <a:srgbClr val="F28E2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C8A61A-C6FF-4497-B595-B26FAE36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28E2B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28E2B"/>
                </a:solidFill>
                <a:latin typeface="Arial"/>
                <a:ea typeface="Arial"/>
                <a:cs typeface="Arial"/>
              </a:rPr>
              <a:t>4  Explore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6525A5-ED89-4F63-A771-5C68FF80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7177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Exact LNS or sampled QUBO proposal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0A9C72-BD4D-4533-A93D-A3634AC5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38350"/>
            <a:ext cx="2095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172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CADB6C-C9CC-4004-8A42-3D8F7361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2479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5  Repair + 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F1D7E9-F4EA-474C-9007-E6940229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71775"/>
            <a:ext cx="1752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Exact recourse + independent validator</a:t>
            </a:r>
          </a:p>
        </p:txBody>
      </p:sp>
      <p:cxnSp>
        <p:nvCxnSpPr>
          <p:cNvPr id="156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24100" y="28479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72A"/>
            </a:solidFill>
            <a:prstDash val="solid"/>
            <a:tailEnd type="triangle" w="sm" len="sm"/>
          </a:ln>
        </p:spPr>
      </p:cxnSp>
      <p:cxnSp>
        <p:nvCxnSpPr>
          <p:cNvPr id="157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648200" y="28479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72A"/>
            </a:solidFill>
            <a:prstDash val="solid"/>
            <a:tailEnd type="triangle" w="sm" len="sm"/>
          </a:ln>
        </p:spPr>
      </p:cxnSp>
      <p:cxnSp>
        <p:nvCxnSpPr>
          <p:cNvPr id="158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72300" y="28479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72A"/>
            </a:solidFill>
            <a:prstDash val="solid"/>
            <a:tailEnd type="triangle" w="sm" len="sm"/>
          </a:ln>
        </p:spPr>
      </p:cxnSp>
      <p:cxnSp>
        <p:nvCxnSpPr>
          <p:cNvPr id="159" name=""/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9296400" y="28479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72A"/>
            </a:solidFill>
            <a:prstDash val="solid"/>
            <a:tailEnd type="triangle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8EA17D-8A0B-4512-B73F-6094116D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3105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228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F28E2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28E2B"/>
                </a:solidFill>
                <a:latin typeface="Arial"/>
                <a:ea typeface="Arial"/>
                <a:cs typeface="Arial"/>
              </a:rPr>
              <a:t>Quantum neighborhood (optional)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8A4330-ACB3-43C9-B136-712C3935A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14850"/>
            <a:ext cx="113919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27EEA3-BA51-4B88-B16B-1384C44A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72025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EFF"/>
          </a:solidFill>
          <a:ln xmlns:a="http://schemas.openxmlformats.org/drawingml/2006/main" w="9525">
            <a:solidFill>
              <a:srgbClr val="E7EE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6D1EAB-E628-4014-B139-E96E5412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7202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BCEEA3-E0DE-4D81-BFF4-0BE8C11D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52975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Feasible start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78D710-766A-42F2-8C17-D820070C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0540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linear W-state per group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995BCC-AD1C-44D3-B07F-F9A1A795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72025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EFF"/>
          </a:solidFill>
          <a:ln xmlns:a="http://schemas.openxmlformats.org/drawingml/2006/main" w="9525">
            <a:solidFill>
              <a:srgbClr val="E7EE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96FC01-7D7B-402E-B2F7-DE8E4029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7202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DB8FF1-640E-4E7E-8F40-399A4E73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752975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Mixer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E0DB11-DFBF-474A-8CE3-9017E860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0540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path XY preserves one-hot structure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65A141-B960-449B-841A-0D358EB0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72025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EFF"/>
          </a:solidFill>
          <a:ln xmlns:a="http://schemas.openxmlformats.org/drawingml/2006/main" w="9525">
            <a:solidFill>
              <a:srgbClr val="E7EE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445740-56B2-466F-B6AB-E00F18C3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7202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C08A8B-7882-4B3D-8039-FC95C78F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52975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Optimization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F7FC2F-7B0B-43DB-961C-E62DF20B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0540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cached angles + exact controls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0548D3-63EC-48AC-BF5E-1F20DBB3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72025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DE"/>
          </a:solidFill>
          <a:ln xmlns:a="http://schemas.openxmlformats.org/drawingml/2006/main" w="9525">
            <a:solidFill>
              <a:srgbClr val="FFF0D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5327ED-133C-41EB-BF13-0CD10D90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7202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28E2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28E2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AE6E7D4-387E-466C-9608-A3B3821C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752975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CE812E-4C01-4734-80E3-C47E9CCD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0540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raw quality, gaps, and Wilson intervals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009B3E0-585A-4800-955B-406B1DDF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201CB29-A3FF-45E6-B1F9-D631FDD4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1057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Implementation: src/domopt/classical.py • src/domopt/hybrid.py • src/domopt/quantum.py • src/domopt/hardware.py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F1DCCD-FAF3-4928-A387-6EE08191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865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16803450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206526-47D5-4EE6-A4E9-6EFCF314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WISER QUANTUM CHALLENGE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10D5FB-20B0-4CAB-8635-FB1F74A7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33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Greedy captures most of the gain in 0.58 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4427C-CACB-472A-A1C6-19E30620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85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0584D3-0D85-44C5-8E24-1734F53E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469F7-431A-45D3-BC3B-FED6D776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7477125" cy="394335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75db5309dd480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71500" y="2390589"/>
            <a:ext cx="7124700" cy="256259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68242-16CA-4F43-A591-9C3F8687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954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AD2095-C606-4882-BEEB-A761D0F9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5737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76.83%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A5136-847D-42B3-9A46-1BC0728E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objective capture after exact polish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2005FB-38AE-4E64-9741-FD52B793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6954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711413-79BB-4B0D-BD66-924867BF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85737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3B5C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3B5C8"/>
                </a:solidFill>
                <a:latin typeface="Arial"/>
                <a:ea typeface="Arial"/>
                <a:cs typeface="Arial"/>
              </a:rPr>
              <a:t>79.91%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F1D7B1-454F-4891-BFD9-DD01AF3A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38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case fill 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01DCA3-FE79-4D7D-BC4B-5E18D677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432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78B9F-AEAA-41EB-8DFD-357C7208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0517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2BAE6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BAE66"/>
                </a:solidFill>
                <a:latin typeface="Arial"/>
                <a:ea typeface="Arial"/>
                <a:cs typeface="Arial"/>
              </a:rPr>
              <a:t>2.05 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09AE9C-67AC-401A-BE8D-4347D4AE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862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polished-greedy runtime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D1E8F9-96D5-4791-AC86-8A7EB617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1432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988D75-4448-4E61-AD8B-7D0E8F5D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30517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6183EE-1609-4BEE-98C6-147F2B2F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8862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validator residual violations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42165B-1C6B-43A6-A93A-4B4C0097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14850"/>
            <a:ext cx="3619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0DE"/>
          </a:solidFill>
          <a:ln xmlns:a="http://schemas.openxmlformats.org/drawingml/2006/main" w="14288">
            <a:solidFill>
              <a:srgbClr val="F28E2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853366-74DC-45AD-997E-073E07DE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05350"/>
            <a:ext cx="3219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5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A5570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A5570D"/>
                </a:solidFill>
                <a:latin typeface="Arial"/>
                <a:ea typeface="Arial"/>
                <a:cs typeface="Arial"/>
              </a:rPr>
              <a:t>+197.2 on the synthetic coordination trap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0ED654-81FE-4DC4-8648-93409BAD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86350"/>
            <a:ext cx="31623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Exact LNS and QAOA proposals recover the same coordinated gain after exact recourse.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290A1F-AEDC-475B-9015-58C2EB2B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5787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1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5D6B7D"/>
                </a:solidFill>
                <a:latin typeface="Arial"/>
                <a:ea typeface="Arial"/>
                <a:cs typeface="Arial"/>
              </a:rPr>
              <a:t>Greedy adds +1.86 pp capture vs default; the time-limited full MILP retains a nonzero gap.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FBF17C-9253-4CC0-AC98-D865D10E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7ED68F-19F1-40D3-A719-059594D8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1057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Evidence: results/final/figures/submission_solver_summary.png • submission_coordination_summary.png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259AD0-5968-404D-872A-6EE2366A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865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20480955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BCC703-2C12-4852-9425-25178D35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WISER QUANTUM CHALLENGE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0C6A6A-BF9C-4F1C-A281-11287178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33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Bounded search scales through all 372 real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D3D9D3-DF55-4683-AEE8-FA9F4EE0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85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D918AD-222C-4CDA-8E8C-03A101F0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A70479-A7C2-43EC-BDFD-07DB8699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723900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6f0a84b20c4cc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81025" y="1966424"/>
            <a:ext cx="6877050" cy="355380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95842C-7902-44C7-9106-1B5A6C74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8290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7EEFF"/>
          </a:solidFill>
          <a:ln xmlns:a="http://schemas.openxmlformats.org/drawingml/2006/main" w="9525">
            <a:solidFill>
              <a:srgbClr val="2D6C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BF14D6-C271-46E6-AC86-DB670120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8763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B09D4D-BF9F-4741-8FEE-0B74175A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FAST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3AB3C0-624E-4DBC-83AA-5B11490D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573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Greedy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7AAB6-2F4B-4B77-A1AA-17B43477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7647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1.31 s median at all 372 groups; feasible incumbent for every planning run.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477D8-D3A4-4611-976B-C95DB218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19425"/>
            <a:ext cx="38290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DFF5F7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871FC5-2AE4-405E-961A-AF1ECE4C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90875"/>
            <a:ext cx="8763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34CAA9-3A62-45E0-BB65-88577CAD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90875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87F8C"/>
                </a:solidFill>
                <a:latin typeface="Arial"/>
                <a:ea typeface="Arial"/>
                <a:cs typeface="Arial"/>
              </a:rPr>
              <a:t>QUALITY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C44DC2-2224-4047-B135-F0FDE276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8135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Exact LNS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D76704-E108-4D82-ADF4-F05D6C75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0045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26.14 s median and the strongest full-scope capture in the repeated study.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74CD54-811E-4CC7-A7CF-32F9B389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343400"/>
            <a:ext cx="38290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0DE"/>
          </a:solidFill>
          <a:ln xmlns:a="http://schemas.openxmlformats.org/drawingml/2006/main" w="9525">
            <a:solidFill>
              <a:srgbClr val="A5570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891AF3-803C-4A14-944A-391618D8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14850"/>
            <a:ext cx="8763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7B2B96-1A33-47E8-B8FC-0AA822B5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148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A5570D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A5570D"/>
                </a:solidFill>
                <a:latin typeface="Arial"/>
                <a:ea typeface="Arial"/>
                <a:cs typeface="Arial"/>
              </a:rPr>
              <a:t>HYBRID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FB841-C1ED-4C35-B5CA-7768A32A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50532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Fixed-width QUBO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CE40B0-61E8-4BDC-8EEC-5EEF591B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244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101.17 s median; at most 16 variables at full real scope.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CAE3C7-A127-4B62-8D29-0AA47E8A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9144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Generated: greedy + exact LNS reach 100k orders; hybrid reaches 20k with a 32-variable QUBO.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A51BF8-C045-4E59-9167-774DAA8D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7451D5-441A-4940-9B67-26DCBC86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1057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Evidence: results/final/figures/submission_scaling_summary.png • notebooks/nestle_challenge_experiments.ipynb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E405DB-D88C-4709-B2B7-A684A619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865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18559538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28A418-E4AE-499C-9868-F6FB8AC8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WISER QUANTUM CHALLENGE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96CD5B-5235-4C2B-885A-490FCF40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33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Shallow QAOA better preserves feasibility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8B5575-F6FA-426C-8DF7-DE633229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85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0B27B9-F0CB-4F12-A3EF-26D243B2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3630E7-CDC8-4D86-BBFE-84DC7DB8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7277100" cy="3790950"/>
          </a:xfrm>
          <a:prstGeom xmlns:a="http://schemas.openxmlformats.org/drawingml/2006/main" prst="roundRect">
            <a:avLst>
              <a:gd name="adj" fmla="val 30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168ebe6ada4ce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90550" y="2165164"/>
            <a:ext cx="6896100" cy="279437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DBDE4-A2D9-48AD-8D8C-DBA706B0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1828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ABA48-4302-42AB-97FA-5A81F9F7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57375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2BAE66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2BAE66"/>
                </a:solidFill>
                <a:latin typeface="Arial"/>
                <a:ea typeface="Arial"/>
                <a:cs typeface="Arial"/>
              </a:rPr>
              <a:t>p =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6F578-F73A-48D7-8D19-DC45CAC5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384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40 two-qubit gates • depth 43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39AAAA-08B9-466E-BD03-957890FE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1695450"/>
            <a:ext cx="1828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93D924-C134-4F2A-BC20-DC57D3FC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857375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2BAE6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2BAE66"/>
                </a:solidFill>
                <a:latin typeface="Arial"/>
                <a:ea typeface="Arial"/>
                <a:cs typeface="Arial"/>
              </a:rPr>
              <a:t>65.34%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16694F-275B-4323-BD2F-AFDA4DF0E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4384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median raw one-hot feasibility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E042F9-005F-4C4B-9FD5-75D75D73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124200"/>
            <a:ext cx="1828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2B6DC7-7AE7-4D8B-A982-A146709B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86125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D9534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D9534F"/>
                </a:solidFill>
                <a:latin typeface="Arial"/>
                <a:ea typeface="Arial"/>
                <a:cs typeface="Arial"/>
              </a:rPr>
              <a:t>p =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F7E488-D9B0-414F-A703-BB556E2F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671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373 two-qubit gates • depth 448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584065-0B39-4EDB-96A2-3E1AD7D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124200"/>
            <a:ext cx="1828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FFD5B9-1718-48B6-8D4D-93D3EA3F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286125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D9534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D9534F"/>
                </a:solidFill>
                <a:latin typeface="Arial"/>
                <a:ea typeface="Arial"/>
                <a:cs typeface="Arial"/>
              </a:rPr>
              <a:t>10.36%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E8C761-A98E-449A-A624-4164BFBC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8671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median raw one-hot feasibility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CE6C74-30A2-44E5-BE63-392B975D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552950"/>
            <a:ext cx="382905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0B172A"/>
          </a:solidFill>
          <a:ln xmlns:a="http://schemas.openxmlformats.org/drawingml/2006/main" w="0">
            <a:solidFill>
              <a:srgbClr val="0B17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DC019F-15AC-4E2E-B4D1-51E25982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3B5C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3B5C8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36DCAB-E816-4678-9194-B4F63DC9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00625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p=1 exact hit: 0.684% vs 0.391% uniform control. Exact recourse validates every final plan.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5D6949-BC2A-4EB1-8734-8BCF5D200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1391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28E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28E2B"/>
                </a:solidFill>
                <a:latin typeface="Arial"/>
                <a:ea typeface="Arial"/>
                <a:cs typeface="Arial"/>
              </a:rPr>
              <a:t>18 QPU jobs • 8,192 shots/job • runtime uses a log scale because queue outliers reach about 12,021 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B735E8-268F-47D3-95D4-9091CC20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89D8F2-DC31-4202-83AB-4CAA360D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1057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Evidence: results/final/figures/submission_ibm_depth_summary.png • results/final/ibm/figures/ibm_hardware_stress.png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A03854-242F-4DA7-B945-CAEC40BA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865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775475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F35432-89EE-480F-AAD0-BDC0A084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WISER QUANTUM CHALLENGE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17E53B-D157-48F5-8EA9-5592714C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33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Deploy classical now; measure QAOA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A2EFD-891B-4FB0-851E-7D6075AB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85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9CECB-74AA-4DCB-A13D-E8CC5646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18D607-0FAA-4379-BF5D-AF9DCD4F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4514850" cy="38862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0B172A"/>
          </a:solidFill>
          <a:ln xmlns:a="http://schemas.openxmlformats.org/drawingml/2006/main" w="0">
            <a:solidFill>
              <a:srgbClr val="0B172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6A40CF-38BE-40E7-AE95-0D70B673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454"/>
          </a:solidFill>
          <a:ln xmlns:a="http://schemas.openxmlformats.org/drawingml/2006/main" w="9525">
            <a:solidFill>
              <a:srgbClr val="1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3FB479-38DC-4435-905C-32160A7F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3B5C8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3B5C8"/>
                </a:solidFill>
                <a:latin typeface="Arial"/>
                <a:ea typeface="Arial"/>
                <a:cs typeface="Arial"/>
              </a:rPr>
              <a:t>RECOMMENDATION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EAC5F1-D103-4DA3-9A8E-AEC97542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Production path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729244-5870-4889-8AA5-9C06D202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14675"/>
            <a:ext cx="37338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381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 algn="l">
              <a:spcAft>
                <a:spcPts val="12"/>
              </a:spcAft>
              <a:buChar char="•"/>
              <a:defRPr sz="14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FAST: release polished greedy after certification.</a:t>
            </a:r>
          </a:p>
          <a:p xmlns:a="http://schemas.openxmlformats.org/drawingml/2006/main">
            <a:pPr marL="20" indent="-12" algn="l">
              <a:spcAft>
                <a:spcPts val="12"/>
              </a:spcAft>
              <a:buChar char="•"/>
              <a:defRPr sz="14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QUALITY: trigger exact LNS for material conflicts.</a:t>
            </a:r>
          </a:p>
          <a:p xmlns:a="http://schemas.openxmlformats.org/drawingml/2006/main">
            <a:pPr marL="20" indent="-12" algn="l">
              <a:spcAft>
                <a:spcPts val="12"/>
              </a:spcAft>
              <a:buChar char="•"/>
              <a:defRPr sz="14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CERTIFY: validate every plan and record residuals.</a:t>
            </a:r>
          </a:p>
          <a:p xmlns:a="http://schemas.openxmlformats.org/drawingml/2006/main">
            <a:pPr marL="20" indent="-12" algn="l">
              <a:spcAft>
                <a:spcPts val="12"/>
              </a:spcAft>
              <a:buChar char="•"/>
              <a:defRPr sz="14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COPILOT: review changes, rationale, and downloads.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BDA1C-F78C-4A96-BB20-A96EAA68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7907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Improvement roadmap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ADEC5D-1374-4EB3-A8FB-E54F7750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19350"/>
            <a:ext cx="60007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7EEFF"/>
          </a:solidFill>
          <a:ln xmlns:a="http://schemas.openxmlformats.org/drawingml/2006/main" w="9525">
            <a:solidFill>
              <a:srgbClr val="2D6C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35393C-EFA2-4D15-9399-0C67E500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90800"/>
            <a:ext cx="5905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E5616A-1FEA-4933-884A-751D1E7F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9080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NOW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2E6EE9-D928-4CEB-92B9-395F8966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7175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Shadow-mode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96F114-AE18-4BA8-A001-C56E75F5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860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Confirm DCs, calendars, capacity • measure planner acceptance and realized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2CA52-13AF-4A80-A24B-C73E6C55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486150"/>
            <a:ext cx="5524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DFF5F7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AFF244-5696-467B-8933-600639DF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57600"/>
            <a:ext cx="5905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075E09-588B-4078-8ED2-1D8DA0E7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5760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87F8C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7237AF-DE59-453D-BFE5-F10AC3C6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38550"/>
            <a:ext cx="440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Scalable 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9A21CE-7A27-4522-8DF7-FFDD5882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52875"/>
            <a:ext cx="440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Adaptive LNS • rolling uncertainty • solver-engine benchmark • learned conflicts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D2D319-AEBF-4E27-A7CF-30B8A06E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52950"/>
            <a:ext cx="5048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0DE"/>
          </a:solidFill>
          <a:ln xmlns:a="http://schemas.openxmlformats.org/drawingml/2006/main" w="9525">
            <a:solidFill>
              <a:srgbClr val="A5570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1A1904-BC45-455F-9AD1-2E73DC70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724400"/>
            <a:ext cx="5905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CF052A-46DC-459F-9EDA-A4E0C9DA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72440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A5570D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A5570D"/>
                </a:solidFill>
                <a:latin typeface="Arial"/>
                <a:ea typeface="Arial"/>
                <a:cs typeface="Arial"/>
              </a:rPr>
              <a:t>R&amp;D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788A72-2F9E-440A-B81B-970686F2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705350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Bounded QAOA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A803CD-34FD-47D4-B6BE-DDF8F9F2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019675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4223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142238"/>
                </a:solidFill>
                <a:latin typeface="Arial"/>
                <a:ea typeface="Arial"/>
                <a:cs typeface="Arial"/>
              </a:rPr>
              <a:t>Shallow p=1 • angle transfer • sequential stopping • calibrated mitigation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ED3AAC-3AD3-4592-9377-A122063E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F5ED"/>
          </a:solidFill>
          <a:ln xmlns:a="http://schemas.openxmlformats.org/drawingml/2006/main" w="9525">
            <a:solidFill>
              <a:srgbClr val="E6F5E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130938-CAD8-459F-B822-B8B1B6C9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BAE66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BAE66"/>
                </a:solidFill>
                <a:latin typeface="Arial"/>
                <a:ea typeface="Arial"/>
                <a:cs typeface="Arial"/>
              </a:rPr>
              <a:t>FEASIBLE FIRST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4C5E69-31A9-45DD-AD01-FC7F02AF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867400"/>
            <a:ext cx="13906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EFF"/>
          </a:solidFill>
          <a:ln xmlns:a="http://schemas.openxmlformats.org/drawingml/2006/main" w="9525">
            <a:solidFill>
              <a:srgbClr val="E7EE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944B96-4078-48E9-A2AC-EE24B86B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86740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D6CD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D6CDF"/>
                </a:solidFill>
                <a:latin typeface="Arial"/>
                <a:ea typeface="Arial"/>
                <a:cs typeface="Arial"/>
              </a:rPr>
              <a:t>SCALABLE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FBB1F8-F30F-4A6B-BA67-25A48EC2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67400"/>
            <a:ext cx="2571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DE"/>
          </a:solidFill>
          <a:ln xmlns:a="http://schemas.openxmlformats.org/drawingml/2006/main" w="9525">
            <a:solidFill>
              <a:srgbClr val="FFF0D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30EF19-53B4-4316-AC00-0918B39E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674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9525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A5570D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A5570D"/>
                </a:solidFill>
                <a:latin typeface="Arial"/>
                <a:ea typeface="Arial"/>
                <a:cs typeface="Arial"/>
              </a:rPr>
              <a:t>QAOA: BOUNDED + MEASURED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5BE02E-8C09-4302-9ADB-546A48E5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848350"/>
            <a:ext cx="527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1" i="0">
                <a:solidFill>
                  <a:srgbClr val="0B172A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72A"/>
                </a:solidFill>
                <a:latin typeface="Arial"/>
                <a:ea typeface="Arial"/>
                <a:cs typeface="Arial"/>
              </a:rPr>
              <a:t>The advantage is a solver that scales now and makes every future proposal auditable.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8CEA38-FBE2-4F85-9BD5-EAD80C22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570EAC-F194-4A9F-8823-8E753F5D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1057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Decision guide: reports/planner_view.pdf • challenge evidence: reports/challenge_submission_report.pdf • setup: README.md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A7DDDD-0A40-4628-B4F1-9EDD51CA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865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5D6B7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5D6B7D"/>
                </a:solidFill>
                <a:latin typeface="Arial"/>
                <a:ea typeface="Arial"/>
                <a:cs typeface="Arial"/>
              </a:rPr>
              <a:t>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12199007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2026-08-10T21:22:51.5760000Z</dcterms:created>
  <dcterms:modified xsi:type="dcterms:W3CDTF">2026-08-10T21:22:51.5760000Z</dcterms:modified>
</coreProperties>
</file>